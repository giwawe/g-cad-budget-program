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wide"/>
  <p:notesSz cx="6858000" cy="9144000"/>
  <p:defaultTextStyle>
    <a:defPPr>
      <a:defRPr lang="zh-CN">
        <a:latin typeface="Microsoft YaHei"/>
        <a:ea typeface="Microsoft YaHei"/>
      </a:defRPr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 <Relationship Id="rId14" Type="http://schemas.openxmlformats.org/officeDocument/2006/relationships/slide" Target="slides/slide13.xml"/> <Relationship Id="rId15" Type="http://schemas.openxmlformats.org/officeDocument/2006/relationships/slide" Target="slides/slide14.xml"/> <Relationship Id="rId16" Type="http://schemas.openxmlformats.org/officeDocument/2006/relationships/slide" Target="slides/slide15.xml"/> <Relationship Id="rId17" Type="http://schemas.openxmlformats.org/officeDocument/2006/relationships/slide" Target="slides/slide16.xml"/> <Relationship Id="rId18" Type="http://schemas.openxmlformats.org/officeDocument/2006/relationships/slide" Target="slides/slide17.xml"/> <Relationship Id="rId100" Type="http://schemas.openxmlformats.org/officeDocument/2006/relationships/presProps" Target="presProps.xml"/> <Relationship Id="rId101" Type="http://schemas.openxmlformats.org/officeDocument/2006/relationships/viewProps" Target="viewProps.xml"/> <Relationship Id="rId102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>
          <a:latin typeface="Microsoft YaHei"/>
          <a:ea typeface="Microsoft YaHei"/>
        </a:defRPr>
      </a:lvl1pPr>
    </p:titleStyle>
    <p:bodyStyle>
      <a:lvl1pPr>
        <a:defRPr sz="1800">
          <a:latin typeface="Microsoft YaHei"/>
          <a:ea typeface="Microsoft YaHei"/>
        </a:defRPr>
      </a:lvl1pPr>
    </p:bodyStyle>
    <p:otherStyle>
      <a:lvl1pPr>
        <a:defRPr sz="1600">
          <a:latin typeface="Microsoft YaHei"/>
          <a:ea typeface="Microsoft YaHei"/>
        </a:defRPr>
      </a:lvl1pPr>
    </p:otherStyle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35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43" name="shape"/>
          <p:cNvSpPr/>
          <p:nvPr/>
        </p:nvSpPr>
        <p:spPr>
          <a:xfrm>
            <a:off x="566928" y="658368"/>
            <a:ext cx="11064240" cy="5532120"/>
          </a:xfrm>
          <a:prstGeom prst="roundRect">
            <a:avLst/>
          </a:prstGeom>
          <a:solidFill>
            <a:srgbClr val="0F3944">
              <a:alpha val="86000"/>
            </a:srgbClr>
          </a:solidFill>
          <a:ln w="9525">
            <a:solidFill>
              <a:srgbClr val="286672"/>
            </a:solidFill>
          </a:ln>
        </p:spPr>
      </p:sp>
      <p:sp>
        <p:nvSpPr>
          <p:cNvPr id="44" name="shape"/>
          <p:cNvSpPr/>
          <p:nvPr/>
        </p:nvSpPr>
        <p:spPr>
          <a:xfrm>
            <a:off x="6949440" y="1051560"/>
            <a:ext cx="3566160" cy="2743200"/>
          </a:xfrm>
          <a:prstGeom prst="roundRect">
            <a:avLst/>
          </a:prstGeom>
          <a:solidFill>
            <a:srgbClr val="123C49"/>
          </a:solidFill>
          <a:ln w="11430">
            <a:solidFill>
              <a:srgbClr val="2B7180"/>
            </a:solidFill>
          </a:ln>
        </p:spPr>
      </p:sp>
      <p:sp>
        <p:nvSpPr>
          <p:cNvPr id="45" name="shape"/>
          <p:cNvSpPr/>
          <p:nvPr/>
        </p:nvSpPr>
        <p:spPr>
          <a:xfrm>
            <a:off x="7205472" y="1344168"/>
            <a:ext cx="1283818" cy="1152144"/>
          </a:xfrm>
          <a:prstGeom prst="rect">
            <a:avLst/>
          </a:prstGeom>
          <a:solidFill>
            <a:srgbClr val="1E5864"/>
          </a:solidFill>
          <a:ln w="12000">
            <a:solidFill>
              <a:srgbClr val="5ED0C5"/>
            </a:solidFill>
          </a:ln>
        </p:spPr>
      </p:sp>
      <p:sp>
        <p:nvSpPr>
          <p:cNvPr id="46" name="shape"/>
          <p:cNvSpPr/>
          <p:nvPr/>
        </p:nvSpPr>
        <p:spPr>
          <a:xfrm>
            <a:off x="8910828" y="1307592"/>
            <a:ext cx="998525" cy="1316736"/>
          </a:xfrm>
          <a:prstGeom prst="rect">
            <a:avLst/>
          </a:prstGeom>
          <a:solidFill>
            <a:srgbClr val="254D55"/>
          </a:solidFill>
          <a:ln w="12000">
            <a:solidFill>
              <a:srgbClr val="5ED0C5"/>
            </a:solidFill>
          </a:ln>
        </p:spPr>
      </p:sp>
      <p:sp>
        <p:nvSpPr>
          <p:cNvPr id="47" name="shape"/>
          <p:cNvSpPr/>
          <p:nvPr/>
        </p:nvSpPr>
        <p:spPr>
          <a:xfrm>
            <a:off x="7242048" y="2642616"/>
            <a:ext cx="1783080" cy="658368"/>
          </a:xfrm>
          <a:prstGeom prst="rect">
            <a:avLst/>
          </a:prstGeom>
          <a:solidFill>
            <a:srgbClr val="213F4A"/>
          </a:solidFill>
          <a:ln w="12000">
            <a:solidFill>
              <a:srgbClr val="5ED0C5"/>
            </a:solidFill>
          </a:ln>
        </p:spPr>
      </p:sp>
      <p:sp>
        <p:nvSpPr>
          <p:cNvPr id="48" name="shape"/>
          <p:cNvSpPr/>
          <p:nvPr/>
        </p:nvSpPr>
        <p:spPr>
          <a:xfrm>
            <a:off x="7616952" y="1709928"/>
            <a:ext cx="109728" cy="109728"/>
          </a:xfrm>
          <a:prstGeom prst="ellipse">
            <a:avLst/>
          </a:prstGeom>
          <a:solidFill>
            <a:srgbClr val="D6A34D"/>
          </a:solidFill>
          <a:ln w="9525">
            <a:solidFill>
              <a:srgbClr val="FFFFFF"/>
            </a:solidFill>
          </a:ln>
        </p:spPr>
      </p:sp>
      <p:sp>
        <p:nvSpPr>
          <p:cNvPr id="49" name="shape"/>
          <p:cNvSpPr/>
          <p:nvPr/>
        </p:nvSpPr>
        <p:spPr>
          <a:xfrm>
            <a:off x="8366760" y="1545336"/>
            <a:ext cx="109728" cy="109728"/>
          </a:xfrm>
          <a:prstGeom prst="ellipse">
            <a:avLst/>
          </a:prstGeom>
          <a:solidFill>
            <a:srgbClr val="D6A34D"/>
          </a:solidFill>
          <a:ln w="9525">
            <a:solidFill>
              <a:srgbClr val="FFFFFF"/>
            </a:solidFill>
          </a:ln>
        </p:spPr>
      </p:sp>
      <p:sp>
        <p:nvSpPr>
          <p:cNvPr id="50" name="shape"/>
          <p:cNvSpPr/>
          <p:nvPr/>
        </p:nvSpPr>
        <p:spPr>
          <a:xfrm>
            <a:off x="896112" y="969264"/>
            <a:ext cx="1737360" cy="329184"/>
          </a:xfrm>
          <a:prstGeom prst="roundRect">
            <a:avLst/>
          </a:prstGeom>
          <a:solidFill>
            <a:srgbClr val="5ED0C5"/>
          </a:solidFill>
          <a:ln>
            <a:noFill/>
          </a:ln>
        </p:spPr>
      </p:sp>
      <p:sp>
        <p:nvSpPr>
          <p:cNvPr id="51" name="text"/>
          <p:cNvSpPr txBox="1"/>
          <p:nvPr/>
        </p:nvSpPr>
        <p:spPr>
          <a:xfrm>
            <a:off x="969264" y="1037844"/>
            <a:ext cx="159105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050" b="1">
                <a:solidFill>
                  <a:srgbClr val="0B2C35"/>
                </a:solidFill>
                <a:latin typeface="Microsoft YaHei"/>
                <a:ea typeface="Microsoft YaHei"/>
                <a:cs typeface="DengXian"/>
              </a:rPr>
              <a:t>设计师培训 v1.1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896112" y="1444752"/>
            <a:ext cx="54864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38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整装预算报价系统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914400" y="22860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600">
                <a:solidFill>
                  <a:srgbClr val="C8E7EA"/>
                </a:solidFill>
                <a:latin typeface="Microsoft YaHei"/>
                <a:ea typeface="Microsoft YaHei"/>
                <a:cs typeface="DengXian"/>
              </a:rPr>
              <a:t>CAD / DWG / DXF 规范画图与平台快速上手</a:t>
            </a:r>
          </a:p>
        </p:txBody>
      </p:sp>
      <p:sp>
        <p:nvSpPr>
          <p:cNvPr id="54" name="shape"/>
          <p:cNvSpPr/>
          <p:nvPr/>
        </p:nvSpPr>
        <p:spPr>
          <a:xfrm>
            <a:off x="950976" y="3072384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5" name="text"/>
          <p:cNvSpPr txBox="1"/>
          <p:nvPr/>
        </p:nvSpPr>
        <p:spPr>
          <a:xfrm>
            <a:off x="1170432" y="299923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300">
                <a:solidFill>
                  <a:srgbClr val="E9F9F7"/>
                </a:solidFill>
                <a:latin typeface="Microsoft YaHei"/>
                <a:ea typeface="Microsoft YaHei"/>
                <a:cs typeface="DengXian"/>
              </a:rPr>
              <a:t>按规范画方案，系统才能自动算量</a:t>
            </a:r>
          </a:p>
        </p:txBody>
      </p:sp>
      <p:sp>
        <p:nvSpPr>
          <p:cNvPr id="56" name="shape"/>
          <p:cNvSpPr/>
          <p:nvPr/>
        </p:nvSpPr>
        <p:spPr>
          <a:xfrm>
            <a:off x="950976" y="3529584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7" name="text"/>
          <p:cNvSpPr txBox="1"/>
          <p:nvPr/>
        </p:nvSpPr>
        <p:spPr>
          <a:xfrm>
            <a:off x="1170432" y="345643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300">
                <a:solidFill>
                  <a:srgbClr val="E9F9F7"/>
                </a:solidFill>
                <a:latin typeface="Microsoft YaHei"/>
                <a:ea typeface="Microsoft YaHei"/>
                <a:cs typeface="DengXian"/>
              </a:rPr>
              <a:t>上传后先复核，再导出预算</a:t>
            </a:r>
          </a:p>
        </p:txBody>
      </p:sp>
      <p:sp>
        <p:nvSpPr>
          <p:cNvPr id="58" name="shape"/>
          <p:cNvSpPr/>
          <p:nvPr/>
        </p:nvSpPr>
        <p:spPr>
          <a:xfrm>
            <a:off x="950976" y="3986784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9" name="text"/>
          <p:cNvSpPr txBox="1"/>
          <p:nvPr/>
        </p:nvSpPr>
        <p:spPr>
          <a:xfrm>
            <a:off x="1170432" y="391363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300">
                <a:solidFill>
                  <a:srgbClr val="E9F9F7"/>
                </a:solidFill>
                <a:latin typeface="Microsoft YaHei"/>
                <a:ea typeface="Microsoft YaHei"/>
                <a:cs typeface="DengXian"/>
              </a:rPr>
              <a:t>异常提示按清单修图，减少返工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914400" y="555040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>
                <a:solidFill>
                  <a:srgbClr val="9EC8CD"/>
                </a:solidFill>
                <a:latin typeface="Microsoft YaHei"/>
                <a:ea typeface="Microsoft YaHei"/>
                <a:cs typeface="DengXian"/>
              </a:rPr>
              <a:t>适用对象：设计师、报价员、门店培训负责人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02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培训目标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看完这份 PPT 要会什么</a:t>
            </a:r>
          </a:p>
        </p:txBody>
      </p:sp>
      <p:sp>
        <p:nvSpPr>
          <p:cNvPr id="47" name="shape"/>
          <p:cNvSpPr/>
          <p:nvPr/>
        </p:nvSpPr>
        <p:spPr>
          <a:xfrm>
            <a:off x="685800" y="1572768"/>
            <a:ext cx="3246120" cy="3337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48" name="shape"/>
          <p:cNvSpPr/>
          <p:nvPr/>
        </p:nvSpPr>
        <p:spPr>
          <a:xfrm>
            <a:off x="685800" y="1572768"/>
            <a:ext cx="82296" cy="3337560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9" name="text"/>
          <p:cNvSpPr txBox="1"/>
          <p:nvPr/>
        </p:nvSpPr>
        <p:spPr>
          <a:xfrm>
            <a:off x="941832" y="17830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会按规范画方案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941832" y="2212848"/>
            <a:ext cx="274320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知道哪些图层必须画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知道空间命名、楼层、门窗和外墙轮廓怎么标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知道哪些画法会导致算量异常</a:t>
            </a:r>
          </a:p>
        </p:txBody>
      </p:sp>
      <p:sp>
        <p:nvSpPr>
          <p:cNvPr id="51" name="shape"/>
          <p:cNvSpPr/>
          <p:nvPr/>
        </p:nvSpPr>
        <p:spPr>
          <a:xfrm>
            <a:off x="4462272" y="1572768"/>
            <a:ext cx="3246120" cy="3337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52" name="shape"/>
          <p:cNvSpPr/>
          <p:nvPr/>
        </p:nvSpPr>
        <p:spPr>
          <a:xfrm>
            <a:off x="4462272" y="1572768"/>
            <a:ext cx="82296" cy="3337560"/>
          </a:xfrm>
          <a:prstGeom prst="rect">
            <a:avLst/>
          </a:prstGeom>
          <a:solidFill>
            <a:srgbClr val="D6A34D"/>
          </a:solidFill>
          <a:ln>
            <a:noFill/>
          </a:ln>
        </p:spPr>
      </p:sp>
      <p:sp>
        <p:nvSpPr>
          <p:cNvPr id="53" name="text"/>
          <p:cNvSpPr txBox="1"/>
          <p:nvPr/>
        </p:nvSpPr>
        <p:spPr>
          <a:xfrm>
            <a:off x="4718304" y="17830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会使用平台复核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4718304" y="2212848"/>
            <a:ext cx="274320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会上传 DXF/DWG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会看方案完整性、建筑面积、窗洞和空间状态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会确认方案信息和水电点位</a:t>
            </a:r>
          </a:p>
        </p:txBody>
      </p:sp>
      <p:sp>
        <p:nvSpPr>
          <p:cNvPr id="55" name="shape"/>
          <p:cNvSpPr/>
          <p:nvPr/>
        </p:nvSpPr>
        <p:spPr>
          <a:xfrm>
            <a:off x="8247888" y="1572768"/>
            <a:ext cx="3246120" cy="3337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56" name="shape"/>
          <p:cNvSpPr/>
          <p:nvPr/>
        </p:nvSpPr>
        <p:spPr>
          <a:xfrm>
            <a:off x="8247888" y="1572768"/>
            <a:ext cx="82296" cy="3337560"/>
          </a:xfrm>
          <a:prstGeom prst="rect">
            <a:avLst/>
          </a:prstGeom>
          <a:solidFill>
            <a:srgbClr val="5ED0C5"/>
          </a:solidFill>
          <a:ln>
            <a:noFill/>
          </a:ln>
        </p:spPr>
      </p:sp>
      <p:sp>
        <p:nvSpPr>
          <p:cNvPr id="57" name="text"/>
          <p:cNvSpPr txBox="1"/>
          <p:nvPr/>
        </p:nvSpPr>
        <p:spPr>
          <a:xfrm>
            <a:off x="8503920" y="17830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会导出可核对预算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8503920" y="2212848"/>
            <a:ext cx="274320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会选择预算模式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会在预算预览页返回修改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会下载预算表并交给报价流程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685800" y="534924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55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一句话记住：先画对，再上传；先复核，再导出。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03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系统流程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从一张方案到一份预算的完整流程</a:t>
            </a:r>
          </a:p>
        </p:txBody>
      </p:sp>
      <p:sp>
        <p:nvSpPr>
          <p:cNvPr id="47" name="shape"/>
          <p:cNvSpPr/>
          <p:nvPr/>
        </p:nvSpPr>
        <p:spPr>
          <a:xfrm>
            <a:off x="594360" y="1828800"/>
            <a:ext cx="19659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48" name="shape"/>
          <p:cNvSpPr/>
          <p:nvPr/>
        </p:nvSpPr>
        <p:spPr>
          <a:xfrm>
            <a:off x="740664" y="1993392"/>
            <a:ext cx="329184" cy="329184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9" name="text"/>
          <p:cNvSpPr txBox="1"/>
          <p:nvPr/>
        </p:nvSpPr>
        <p:spPr>
          <a:xfrm>
            <a:off x="822960" y="2057400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9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1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1197864" y="1984248"/>
            <a:ext cx="117043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1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规范画图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758952" y="2359152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9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按图层和命名完成方案</a:t>
            </a:r>
          </a:p>
        </p:txBody>
      </p:sp>
      <p:sp>
        <p:nvSpPr>
          <p:cNvPr id="52" name="shape"/>
          <p:cNvSpPr/>
          <p:nvPr/>
        </p:nvSpPr>
        <p:spPr>
          <a:xfrm>
            <a:off x="2587752" y="2267712"/>
            <a:ext cx="411480" cy="54864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3" name="shape"/>
          <p:cNvSpPr/>
          <p:nvPr/>
        </p:nvSpPr>
        <p:spPr>
          <a:xfrm>
            <a:off x="2953512" y="2167128"/>
            <a:ext cx="164592" cy="256032"/>
          </a:xfrm>
          <a:prstGeom prst="triangl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4" name="shape"/>
          <p:cNvSpPr/>
          <p:nvPr/>
        </p:nvSpPr>
        <p:spPr>
          <a:xfrm>
            <a:off x="2862072" y="1828800"/>
            <a:ext cx="19659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55" name="shape"/>
          <p:cNvSpPr/>
          <p:nvPr/>
        </p:nvSpPr>
        <p:spPr>
          <a:xfrm>
            <a:off x="3008376" y="1993392"/>
            <a:ext cx="329184" cy="329184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6" name="text"/>
          <p:cNvSpPr txBox="1"/>
          <p:nvPr/>
        </p:nvSpPr>
        <p:spPr>
          <a:xfrm>
            <a:off x="3090672" y="2057400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9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2</a:t>
            </a:r>
          </a:p>
        </p:txBody>
      </p:sp>
      <p:sp>
        <p:nvSpPr>
          <p:cNvPr id="57" name="text"/>
          <p:cNvSpPr txBox="1"/>
          <p:nvPr/>
        </p:nvSpPr>
        <p:spPr>
          <a:xfrm>
            <a:off x="3465576" y="1984248"/>
            <a:ext cx="117043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1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方案上传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3026664" y="2359152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9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DXF 或 DWG 均可上传</a:t>
            </a:r>
          </a:p>
        </p:txBody>
      </p:sp>
      <p:sp>
        <p:nvSpPr>
          <p:cNvPr id="59" name="shape"/>
          <p:cNvSpPr/>
          <p:nvPr/>
        </p:nvSpPr>
        <p:spPr>
          <a:xfrm>
            <a:off x="4855464" y="2267712"/>
            <a:ext cx="411480" cy="54864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0" name="shape"/>
          <p:cNvSpPr/>
          <p:nvPr/>
        </p:nvSpPr>
        <p:spPr>
          <a:xfrm>
            <a:off x="5221224" y="2167128"/>
            <a:ext cx="164592" cy="256032"/>
          </a:xfrm>
          <a:prstGeom prst="triangl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1" name="shape"/>
          <p:cNvSpPr/>
          <p:nvPr/>
        </p:nvSpPr>
        <p:spPr>
          <a:xfrm>
            <a:off x="5129784" y="1828800"/>
            <a:ext cx="19659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62" name="shape"/>
          <p:cNvSpPr/>
          <p:nvPr/>
        </p:nvSpPr>
        <p:spPr>
          <a:xfrm>
            <a:off x="5276088" y="1993392"/>
            <a:ext cx="329184" cy="329184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3" name="text"/>
          <p:cNvSpPr txBox="1"/>
          <p:nvPr/>
        </p:nvSpPr>
        <p:spPr>
          <a:xfrm>
            <a:off x="5358384" y="2057400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9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3</a:t>
            </a:r>
          </a:p>
        </p:txBody>
      </p:sp>
      <p:sp>
        <p:nvSpPr>
          <p:cNvPr id="64" name="text"/>
          <p:cNvSpPr txBox="1"/>
          <p:nvPr/>
        </p:nvSpPr>
        <p:spPr>
          <a:xfrm>
            <a:off x="5733288" y="1984248"/>
            <a:ext cx="117043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1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完整性复核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5294376" y="2359152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9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看面积、墙线、门窗和图形</a:t>
            </a:r>
          </a:p>
        </p:txBody>
      </p:sp>
      <p:sp>
        <p:nvSpPr>
          <p:cNvPr id="66" name="shape"/>
          <p:cNvSpPr/>
          <p:nvPr/>
        </p:nvSpPr>
        <p:spPr>
          <a:xfrm>
            <a:off x="7123176" y="2267712"/>
            <a:ext cx="411480" cy="54864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7" name="shape"/>
          <p:cNvSpPr/>
          <p:nvPr/>
        </p:nvSpPr>
        <p:spPr>
          <a:xfrm>
            <a:off x="7488936" y="2167128"/>
            <a:ext cx="164592" cy="256032"/>
          </a:xfrm>
          <a:prstGeom prst="triangl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8" name="shape"/>
          <p:cNvSpPr/>
          <p:nvPr/>
        </p:nvSpPr>
        <p:spPr>
          <a:xfrm>
            <a:off x="7397496" y="1828800"/>
            <a:ext cx="19659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69" name="shape"/>
          <p:cNvSpPr/>
          <p:nvPr/>
        </p:nvSpPr>
        <p:spPr>
          <a:xfrm>
            <a:off x="7543800" y="1993392"/>
            <a:ext cx="329184" cy="329184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0" name="text"/>
          <p:cNvSpPr txBox="1"/>
          <p:nvPr/>
        </p:nvSpPr>
        <p:spPr>
          <a:xfrm>
            <a:off x="7626096" y="2057400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9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4</a:t>
            </a:r>
          </a:p>
        </p:txBody>
      </p:sp>
      <p:sp>
        <p:nvSpPr>
          <p:cNvPr id="71" name="text"/>
          <p:cNvSpPr txBox="1"/>
          <p:nvPr/>
        </p:nvSpPr>
        <p:spPr>
          <a:xfrm>
            <a:off x="8001000" y="1984248"/>
            <a:ext cx="117043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1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确认可选项</a:t>
            </a:r>
          </a:p>
        </p:txBody>
      </p:sp>
      <p:sp>
        <p:nvSpPr>
          <p:cNvPr id="72" name="text"/>
          <p:cNvSpPr txBox="1"/>
          <p:nvPr/>
        </p:nvSpPr>
        <p:spPr>
          <a:xfrm>
            <a:off x="7562088" y="2359152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9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铝窗、卫浴等按需加入</a:t>
            </a:r>
          </a:p>
        </p:txBody>
      </p:sp>
      <p:sp>
        <p:nvSpPr>
          <p:cNvPr id="73" name="shape"/>
          <p:cNvSpPr/>
          <p:nvPr/>
        </p:nvSpPr>
        <p:spPr>
          <a:xfrm>
            <a:off x="9390888" y="2267712"/>
            <a:ext cx="411480" cy="54864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4" name="shape"/>
          <p:cNvSpPr/>
          <p:nvPr/>
        </p:nvSpPr>
        <p:spPr>
          <a:xfrm>
            <a:off x="9756648" y="2167128"/>
            <a:ext cx="164592" cy="256032"/>
          </a:xfrm>
          <a:prstGeom prst="triangl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5" name="shape"/>
          <p:cNvSpPr/>
          <p:nvPr/>
        </p:nvSpPr>
        <p:spPr>
          <a:xfrm>
            <a:off x="9665208" y="1828800"/>
            <a:ext cx="19659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76" name="shape"/>
          <p:cNvSpPr/>
          <p:nvPr/>
        </p:nvSpPr>
        <p:spPr>
          <a:xfrm>
            <a:off x="9811512" y="1993392"/>
            <a:ext cx="329184" cy="329184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7" name="text"/>
          <p:cNvSpPr txBox="1"/>
          <p:nvPr/>
        </p:nvSpPr>
        <p:spPr>
          <a:xfrm>
            <a:off x="9893808" y="2057400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9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5</a:t>
            </a:r>
          </a:p>
        </p:txBody>
      </p:sp>
      <p:sp>
        <p:nvSpPr>
          <p:cNvPr id="78" name="text"/>
          <p:cNvSpPr txBox="1"/>
          <p:nvPr/>
        </p:nvSpPr>
        <p:spPr>
          <a:xfrm>
            <a:off x="10268712" y="1984248"/>
            <a:ext cx="117043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1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预算预览</a:t>
            </a:r>
          </a:p>
        </p:txBody>
      </p:sp>
      <p:sp>
        <p:nvSpPr>
          <p:cNvPr id="79" name="text"/>
          <p:cNvSpPr txBox="1"/>
          <p:nvPr/>
        </p:nvSpPr>
        <p:spPr>
          <a:xfrm>
            <a:off x="9829800" y="2359152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9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先看表，再下载</a:t>
            </a:r>
          </a:p>
        </p:txBody>
      </p:sp>
      <p:sp>
        <p:nvSpPr>
          <p:cNvPr id="80" name="shape"/>
          <p:cNvSpPr/>
          <p:nvPr/>
        </p:nvSpPr>
        <p:spPr>
          <a:xfrm>
            <a:off x="1005840" y="3840480"/>
            <a:ext cx="10149840" cy="1234440"/>
          </a:xfrm>
          <a:prstGeom prst="roundRect">
            <a:avLst/>
          </a:prstGeom>
          <a:solidFill>
            <a:srgbClr val="E8F6F3"/>
          </a:solidFill>
          <a:ln w="7620">
            <a:solidFill>
              <a:srgbClr val="CFE0E2"/>
            </a:solidFill>
          </a:ln>
        </p:spPr>
      </p:sp>
      <p:sp>
        <p:nvSpPr>
          <p:cNvPr id="81" name="shape"/>
          <p:cNvSpPr/>
          <p:nvPr/>
        </p:nvSpPr>
        <p:spPr>
          <a:xfrm>
            <a:off x="1005840" y="3840480"/>
            <a:ext cx="82296" cy="1234440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82" name="text"/>
          <p:cNvSpPr txBox="1"/>
          <p:nvPr/>
        </p:nvSpPr>
        <p:spPr>
          <a:xfrm>
            <a:off x="1261872" y="4050792"/>
            <a:ext cx="9646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培训建议</a:t>
            </a:r>
          </a:p>
        </p:txBody>
      </p:sp>
      <p:sp>
        <p:nvSpPr>
          <p:cNvPr id="83" name="text"/>
          <p:cNvSpPr txBox="1"/>
          <p:nvPr/>
        </p:nvSpPr>
        <p:spPr>
          <a:xfrm>
            <a:off x="1261872" y="4480560"/>
            <a:ext cx="9646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第一次试用时建议选一套已人工核对过的真实图纸，从上传到预算导出完整走一遍；遇到异常先看修图提示，再回 CAD 修改。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04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画图规范 1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画图规范：这些图层最常用</a:t>
            </a:r>
          </a:p>
        </p:txBody>
      </p:sp>
      <p:sp>
        <p:nvSpPr>
          <p:cNvPr id="47" name="shape"/>
          <p:cNvSpPr/>
          <p:nvPr/>
        </p:nvSpPr>
        <p:spPr>
          <a:xfrm>
            <a:off x="685800" y="1417320"/>
            <a:ext cx="10789920" cy="438912"/>
          </a:xfrm>
          <a:prstGeom prst="roundRect">
            <a:avLst/>
          </a:prstGeom>
          <a:solidFill>
            <a:srgbClr val="FFFFFF"/>
          </a:solidFill>
          <a:ln w="5800">
            <a:solidFill>
              <a:srgbClr val="CFE0E2"/>
            </a:solidFill>
          </a:ln>
        </p:spPr>
      </p:sp>
      <p:sp>
        <p:nvSpPr>
          <p:cNvPr id="48" name="text"/>
          <p:cNvSpPr txBox="1"/>
          <p:nvPr/>
        </p:nvSpPr>
        <p:spPr>
          <a:xfrm>
            <a:off x="914400" y="1527048"/>
            <a:ext cx="23317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QUOTE_ROOM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3520440" y="1527048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空间闭合边界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5943600" y="1527048"/>
            <a:ext cx="43891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决定空间面积和空间归属</a:t>
            </a:r>
          </a:p>
        </p:txBody>
      </p:sp>
      <p:sp>
        <p:nvSpPr>
          <p:cNvPr id="51" name="shape"/>
          <p:cNvSpPr/>
          <p:nvPr/>
        </p:nvSpPr>
        <p:spPr>
          <a:xfrm>
            <a:off x="685800" y="1984248"/>
            <a:ext cx="10789920" cy="438912"/>
          </a:xfrm>
          <a:prstGeom prst="roundRect">
            <a:avLst/>
          </a:prstGeom>
          <a:solidFill>
            <a:srgbClr val="FFFFFF"/>
          </a:solidFill>
          <a:ln w="5800">
            <a:solidFill>
              <a:srgbClr val="CFE0E2"/>
            </a:solidFill>
          </a:ln>
        </p:spPr>
      </p:sp>
      <p:sp>
        <p:nvSpPr>
          <p:cNvPr id="52" name="text"/>
          <p:cNvSpPr txBox="1"/>
          <p:nvPr/>
        </p:nvSpPr>
        <p:spPr>
          <a:xfrm>
            <a:off x="914400" y="2093976"/>
            <a:ext cx="23317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QUOTE_WALL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3520440" y="2093976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实际可施工墙线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5943600" y="2093976"/>
            <a:ext cx="43891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决定墙面展开、乳胶漆和墙砖</a:t>
            </a:r>
          </a:p>
        </p:txBody>
      </p:sp>
      <p:sp>
        <p:nvSpPr>
          <p:cNvPr id="55" name="shape"/>
          <p:cNvSpPr/>
          <p:nvPr/>
        </p:nvSpPr>
        <p:spPr>
          <a:xfrm>
            <a:off x="685800" y="2551176"/>
            <a:ext cx="10789920" cy="438912"/>
          </a:xfrm>
          <a:prstGeom prst="roundRect">
            <a:avLst/>
          </a:prstGeom>
          <a:solidFill>
            <a:srgbClr val="FFFFFF"/>
          </a:solidFill>
          <a:ln w="5800">
            <a:solidFill>
              <a:srgbClr val="CFE0E2"/>
            </a:solidFill>
          </a:ln>
        </p:spPr>
      </p:sp>
      <p:sp>
        <p:nvSpPr>
          <p:cNvPr id="56" name="text"/>
          <p:cNvSpPr txBox="1"/>
          <p:nvPr/>
        </p:nvSpPr>
        <p:spPr>
          <a:xfrm>
            <a:off x="914400" y="2660904"/>
            <a:ext cx="23317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QUOTE_EXT_WALL</a:t>
            </a:r>
          </a:p>
        </p:txBody>
      </p:sp>
      <p:sp>
        <p:nvSpPr>
          <p:cNvPr id="57" name="text"/>
          <p:cNvSpPr txBox="1"/>
          <p:nvPr/>
        </p:nvSpPr>
        <p:spPr>
          <a:xfrm>
            <a:off x="3520440" y="2660904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建筑外墙轮廓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5943600" y="2660904"/>
            <a:ext cx="43891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决定项目建筑面积</a:t>
            </a:r>
          </a:p>
        </p:txBody>
      </p:sp>
      <p:sp>
        <p:nvSpPr>
          <p:cNvPr id="59" name="shape"/>
          <p:cNvSpPr/>
          <p:nvPr/>
        </p:nvSpPr>
        <p:spPr>
          <a:xfrm>
            <a:off x="685800" y="3118104"/>
            <a:ext cx="10789920" cy="438912"/>
          </a:xfrm>
          <a:prstGeom prst="roundRect">
            <a:avLst/>
          </a:prstGeom>
          <a:solidFill>
            <a:srgbClr val="FFFFFF"/>
          </a:solidFill>
          <a:ln w="5800">
            <a:solidFill>
              <a:srgbClr val="CFE0E2"/>
            </a:solidFill>
          </a:ln>
        </p:spPr>
      </p:sp>
      <p:sp>
        <p:nvSpPr>
          <p:cNvPr id="60" name="text"/>
          <p:cNvSpPr txBox="1"/>
          <p:nvPr/>
        </p:nvSpPr>
        <p:spPr>
          <a:xfrm>
            <a:off x="914400" y="3227832"/>
            <a:ext cx="23317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QUOTE_WINDOW / QUOTE_DOOR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3520440" y="3227832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窗洞 / 门洞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5943600" y="3227832"/>
            <a:ext cx="43891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决定扣减、门窗和门套数量</a:t>
            </a:r>
          </a:p>
        </p:txBody>
      </p:sp>
      <p:sp>
        <p:nvSpPr>
          <p:cNvPr id="63" name="shape"/>
          <p:cNvSpPr/>
          <p:nvPr/>
        </p:nvSpPr>
        <p:spPr>
          <a:xfrm>
            <a:off x="685800" y="3685032"/>
            <a:ext cx="10789920" cy="438912"/>
          </a:xfrm>
          <a:prstGeom prst="roundRect">
            <a:avLst/>
          </a:prstGeom>
          <a:solidFill>
            <a:srgbClr val="FFFFFF"/>
          </a:solidFill>
          <a:ln w="5800">
            <a:solidFill>
              <a:srgbClr val="CFE0E2"/>
            </a:solidFill>
          </a:ln>
        </p:spPr>
      </p:sp>
      <p:sp>
        <p:nvSpPr>
          <p:cNvPr id="64" name="text"/>
          <p:cNvSpPr txBox="1"/>
          <p:nvPr/>
        </p:nvSpPr>
        <p:spPr>
          <a:xfrm>
            <a:off x="914400" y="3794760"/>
            <a:ext cx="23317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QUOTE_TEXT / QUOTE_FLOOR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3520440" y="3794760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空间名 / 楼层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5943600" y="3794760"/>
            <a:ext cx="43891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决定空间类型和楼层归属</a:t>
            </a:r>
          </a:p>
        </p:txBody>
      </p:sp>
      <p:sp>
        <p:nvSpPr>
          <p:cNvPr id="67" name="shape"/>
          <p:cNvSpPr/>
          <p:nvPr/>
        </p:nvSpPr>
        <p:spPr>
          <a:xfrm>
            <a:off x="685800" y="4251960"/>
            <a:ext cx="10789920" cy="438912"/>
          </a:xfrm>
          <a:prstGeom prst="roundRect">
            <a:avLst/>
          </a:prstGeom>
          <a:solidFill>
            <a:srgbClr val="FFFFFF"/>
          </a:solidFill>
          <a:ln w="5800">
            <a:solidFill>
              <a:srgbClr val="CFE0E2"/>
            </a:solidFill>
          </a:ln>
        </p:spPr>
      </p:sp>
      <p:sp>
        <p:nvSpPr>
          <p:cNvPr id="68" name="text"/>
          <p:cNvSpPr txBox="1"/>
          <p:nvPr/>
        </p:nvSpPr>
        <p:spPr>
          <a:xfrm>
            <a:off x="914400" y="4361688"/>
            <a:ext cx="23317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QUOTE_HEIGHT</a:t>
            </a:r>
          </a:p>
        </p:txBody>
      </p:sp>
      <p:sp>
        <p:nvSpPr>
          <p:cNvPr id="69" name="text"/>
          <p:cNvSpPr txBox="1"/>
          <p:nvPr/>
        </p:nvSpPr>
        <p:spPr>
          <a:xfrm>
            <a:off x="3520440" y="4361688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窗高、门高等补充标注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5943600" y="4361688"/>
            <a:ext cx="43891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决定窗洞面积和门洞高度</a:t>
            </a:r>
          </a:p>
        </p:txBody>
      </p:sp>
      <p:sp>
        <p:nvSpPr>
          <p:cNvPr id="71" name="text"/>
          <p:cNvSpPr txBox="1"/>
          <p:nvPr/>
        </p:nvSpPr>
        <p:spPr>
          <a:xfrm>
            <a:off x="731520" y="5193792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图层名必须尽量使用标准英文图层；系统兼容部分常见错拼，但培训和交付仍以标准图层为准。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05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画图规范 2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空间边界：闭合、不重叠、不混名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777240" y="141732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正确示意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6400800" y="141732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D45A4D"/>
                </a:solidFill>
                <a:latin typeface="Microsoft YaHei"/>
                <a:ea typeface="Microsoft YaHei"/>
                <a:cs typeface="DengXian"/>
              </a:rPr>
              <a:t>错误示意</a:t>
            </a:r>
          </a:p>
        </p:txBody>
      </p:sp>
      <p:sp>
        <p:nvSpPr>
          <p:cNvPr id="49" name="shape"/>
          <p:cNvSpPr/>
          <p:nvPr/>
        </p:nvSpPr>
        <p:spPr>
          <a:xfrm>
            <a:off x="822960" y="1828800"/>
            <a:ext cx="4434840" cy="2606040"/>
          </a:xfrm>
          <a:prstGeom prst="roundRect">
            <a:avLst/>
          </a:prstGeom>
          <a:solidFill>
            <a:srgbClr val="123C49"/>
          </a:solidFill>
          <a:ln w="11430">
            <a:solidFill>
              <a:srgbClr val="2B7180"/>
            </a:solidFill>
          </a:ln>
        </p:spPr>
      </p:sp>
      <p:sp>
        <p:nvSpPr>
          <p:cNvPr id="50" name="shape"/>
          <p:cNvSpPr/>
          <p:nvPr/>
        </p:nvSpPr>
        <p:spPr>
          <a:xfrm>
            <a:off x="1078992" y="2121408"/>
            <a:ext cx="1596542" cy="1094537"/>
          </a:xfrm>
          <a:prstGeom prst="rect">
            <a:avLst/>
          </a:prstGeom>
          <a:solidFill>
            <a:srgbClr val="1E5864"/>
          </a:solidFill>
          <a:ln w="12000">
            <a:solidFill>
              <a:srgbClr val="5ED0C5"/>
            </a:solidFill>
          </a:ln>
        </p:spPr>
      </p:sp>
      <p:sp>
        <p:nvSpPr>
          <p:cNvPr id="51" name="shape"/>
          <p:cNvSpPr/>
          <p:nvPr/>
        </p:nvSpPr>
        <p:spPr>
          <a:xfrm>
            <a:off x="3262122" y="2084832"/>
            <a:ext cx="1241755" cy="1250899"/>
          </a:xfrm>
          <a:prstGeom prst="rect">
            <a:avLst/>
          </a:prstGeom>
          <a:solidFill>
            <a:srgbClr val="254D55"/>
          </a:solidFill>
          <a:ln w="12000">
            <a:solidFill>
              <a:srgbClr val="5ED0C5"/>
            </a:solidFill>
          </a:ln>
        </p:spPr>
      </p:sp>
      <p:sp>
        <p:nvSpPr>
          <p:cNvPr id="52" name="shape"/>
          <p:cNvSpPr/>
          <p:nvPr/>
        </p:nvSpPr>
        <p:spPr>
          <a:xfrm>
            <a:off x="1115568" y="3340303"/>
            <a:ext cx="2217420" cy="625450"/>
          </a:xfrm>
          <a:prstGeom prst="rect">
            <a:avLst/>
          </a:prstGeom>
          <a:solidFill>
            <a:srgbClr val="213F4A"/>
          </a:solidFill>
          <a:ln w="12000">
            <a:solidFill>
              <a:srgbClr val="5ED0C5"/>
            </a:solidFill>
          </a:ln>
        </p:spPr>
      </p:sp>
      <p:sp>
        <p:nvSpPr>
          <p:cNvPr id="53" name="shape"/>
          <p:cNvSpPr/>
          <p:nvPr/>
        </p:nvSpPr>
        <p:spPr>
          <a:xfrm>
            <a:off x="1490472" y="2487168"/>
            <a:ext cx="109728" cy="109728"/>
          </a:xfrm>
          <a:prstGeom prst="ellipse">
            <a:avLst/>
          </a:prstGeom>
          <a:solidFill>
            <a:srgbClr val="D6A34D"/>
          </a:solidFill>
          <a:ln w="9525">
            <a:solidFill>
              <a:srgbClr val="FFFFFF"/>
            </a:solidFill>
          </a:ln>
        </p:spPr>
      </p:sp>
      <p:sp>
        <p:nvSpPr>
          <p:cNvPr id="54" name="shape"/>
          <p:cNvSpPr/>
          <p:nvPr/>
        </p:nvSpPr>
        <p:spPr>
          <a:xfrm>
            <a:off x="2240280" y="2322576"/>
            <a:ext cx="109728" cy="109728"/>
          </a:xfrm>
          <a:prstGeom prst="ellipse">
            <a:avLst/>
          </a:prstGeom>
          <a:solidFill>
            <a:srgbClr val="D6A34D"/>
          </a:solidFill>
          <a:ln w="9525">
            <a:solidFill>
              <a:srgbClr val="FFFFFF"/>
            </a:solidFill>
          </a:ln>
        </p:spPr>
      </p:sp>
      <p:sp>
        <p:nvSpPr>
          <p:cNvPr id="55" name="shape"/>
          <p:cNvSpPr/>
          <p:nvPr/>
        </p:nvSpPr>
        <p:spPr>
          <a:xfrm>
            <a:off x="6400800" y="1828800"/>
            <a:ext cx="4434840" cy="2606040"/>
          </a:xfrm>
          <a:prstGeom prst="roundRect">
            <a:avLst/>
          </a:prstGeom>
          <a:solidFill>
            <a:srgbClr val="123C49"/>
          </a:solidFill>
          <a:ln w="11430">
            <a:solidFill>
              <a:srgbClr val="2B7180"/>
            </a:solidFill>
          </a:ln>
        </p:spPr>
      </p:sp>
      <p:sp>
        <p:nvSpPr>
          <p:cNvPr id="56" name="shape"/>
          <p:cNvSpPr/>
          <p:nvPr/>
        </p:nvSpPr>
        <p:spPr>
          <a:xfrm>
            <a:off x="6656832" y="2121408"/>
            <a:ext cx="1596542" cy="1094537"/>
          </a:xfrm>
          <a:prstGeom prst="rect">
            <a:avLst/>
          </a:prstGeom>
          <a:solidFill>
            <a:srgbClr val="1E5864"/>
          </a:solidFill>
          <a:ln w="12000">
            <a:solidFill>
              <a:srgbClr val="D45A4D"/>
            </a:solidFill>
          </a:ln>
        </p:spPr>
      </p:sp>
      <p:sp>
        <p:nvSpPr>
          <p:cNvPr id="57" name="shape"/>
          <p:cNvSpPr/>
          <p:nvPr/>
        </p:nvSpPr>
        <p:spPr>
          <a:xfrm>
            <a:off x="8839962" y="2084832"/>
            <a:ext cx="1241755" cy="1250899"/>
          </a:xfrm>
          <a:prstGeom prst="rect">
            <a:avLst/>
          </a:prstGeom>
          <a:solidFill>
            <a:srgbClr val="254D55"/>
          </a:solidFill>
          <a:ln w="12000">
            <a:solidFill>
              <a:srgbClr val="D45A4D"/>
            </a:solidFill>
          </a:ln>
        </p:spPr>
      </p:sp>
      <p:sp>
        <p:nvSpPr>
          <p:cNvPr id="58" name="shape"/>
          <p:cNvSpPr/>
          <p:nvPr/>
        </p:nvSpPr>
        <p:spPr>
          <a:xfrm>
            <a:off x="6693408" y="3340303"/>
            <a:ext cx="2217420" cy="625450"/>
          </a:xfrm>
          <a:prstGeom prst="rect">
            <a:avLst/>
          </a:prstGeom>
          <a:solidFill>
            <a:srgbClr val="213F4A"/>
          </a:solidFill>
          <a:ln w="12000">
            <a:solidFill>
              <a:srgbClr val="D45A4D"/>
            </a:solidFill>
          </a:ln>
        </p:spPr>
      </p:sp>
      <p:sp>
        <p:nvSpPr>
          <p:cNvPr id="59" name="shape"/>
          <p:cNvSpPr/>
          <p:nvPr/>
        </p:nvSpPr>
        <p:spPr>
          <a:xfrm>
            <a:off x="6986016" y="2267712"/>
            <a:ext cx="1507846" cy="990295"/>
          </a:xfrm>
          <a:prstGeom prst="rect">
            <a:avLst/>
          </a:prstGeom>
          <a:noFill/>
          <a:ln w="18000">
            <a:solidFill>
              <a:srgbClr val="D45A4D"/>
            </a:solidFill>
          </a:ln>
        </p:spPr>
      </p:sp>
      <p:sp>
        <p:nvSpPr>
          <p:cNvPr id="60" name="text"/>
          <p:cNvSpPr txBox="1"/>
          <p:nvPr/>
        </p:nvSpPr>
        <p:spPr>
          <a:xfrm>
            <a:off x="7013448" y="2542032"/>
            <a:ext cx="22174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850" b="1">
                <a:solidFill>
                  <a:srgbClr val="FFF0EC"/>
                </a:solidFill>
                <a:latin typeface="Microsoft YaHei"/>
                <a:ea typeface="Microsoft YaHei"/>
                <a:cs typeface="DengXian"/>
              </a:rPr>
              <a:t>重叠/混名</a:t>
            </a:r>
          </a:p>
        </p:txBody>
      </p:sp>
      <p:sp>
        <p:nvSpPr>
          <p:cNvPr id="61" name="shape"/>
          <p:cNvSpPr/>
          <p:nvPr/>
        </p:nvSpPr>
        <p:spPr>
          <a:xfrm>
            <a:off x="868680" y="4754880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2" name="text"/>
          <p:cNvSpPr txBox="1"/>
          <p:nvPr/>
        </p:nvSpPr>
        <p:spPr>
          <a:xfrm>
            <a:off x="1088136" y="4681728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每个 QUOTE_ROOM 都要闭合</a:t>
            </a:r>
          </a:p>
        </p:txBody>
      </p:sp>
      <p:sp>
        <p:nvSpPr>
          <p:cNvPr id="63" name="shape"/>
          <p:cNvSpPr/>
          <p:nvPr/>
        </p:nvSpPr>
        <p:spPr>
          <a:xfrm>
            <a:off x="868680" y="5148072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4" name="text"/>
          <p:cNvSpPr txBox="1"/>
          <p:nvPr/>
        </p:nvSpPr>
        <p:spPr>
          <a:xfrm>
            <a:off x="1088136" y="507492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一个空间只表达一种计价性质</a:t>
            </a:r>
          </a:p>
        </p:txBody>
      </p:sp>
      <p:sp>
        <p:nvSpPr>
          <p:cNvPr id="65" name="shape"/>
          <p:cNvSpPr/>
          <p:nvPr/>
        </p:nvSpPr>
        <p:spPr>
          <a:xfrm>
            <a:off x="868680" y="5541264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6" name="text"/>
          <p:cNvSpPr txBox="1"/>
          <p:nvPr/>
        </p:nvSpPr>
        <p:spPr>
          <a:xfrm>
            <a:off x="1088136" y="546811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电梯井、管井、挑空等要单独拆出</a:t>
            </a:r>
          </a:p>
        </p:txBody>
      </p:sp>
      <p:sp>
        <p:nvSpPr>
          <p:cNvPr id="67" name="shape"/>
          <p:cNvSpPr/>
          <p:nvPr/>
        </p:nvSpPr>
        <p:spPr>
          <a:xfrm>
            <a:off x="6446520" y="4754880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8" name="text"/>
          <p:cNvSpPr txBox="1"/>
          <p:nvPr/>
        </p:nvSpPr>
        <p:spPr>
          <a:xfrm>
            <a:off x="6665976" y="4681728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不要把电梯井框进楼梯间</a:t>
            </a:r>
          </a:p>
        </p:txBody>
      </p:sp>
      <p:sp>
        <p:nvSpPr>
          <p:cNvPr id="69" name="shape"/>
          <p:cNvSpPr/>
          <p:nvPr/>
        </p:nvSpPr>
        <p:spPr>
          <a:xfrm>
            <a:off x="6446520" y="5148072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0" name="text"/>
          <p:cNvSpPr txBox="1"/>
          <p:nvPr/>
        </p:nvSpPr>
        <p:spPr>
          <a:xfrm>
            <a:off x="6665976" y="507492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不要写“过道/电梯井”这类混合名称</a:t>
            </a:r>
          </a:p>
        </p:txBody>
      </p:sp>
      <p:sp>
        <p:nvSpPr>
          <p:cNvPr id="71" name="shape"/>
          <p:cNvSpPr/>
          <p:nvPr/>
        </p:nvSpPr>
        <p:spPr>
          <a:xfrm>
            <a:off x="6446520" y="5541264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2" name="text"/>
          <p:cNvSpPr txBox="1"/>
          <p:nvPr/>
        </p:nvSpPr>
        <p:spPr>
          <a:xfrm>
            <a:off x="6665976" y="546811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空间重叠不会自动扣除内层面积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06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画图规范 3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墙线、开放边和门洞怎么画</a:t>
            </a:r>
          </a:p>
        </p:txBody>
      </p:sp>
      <p:sp>
        <p:nvSpPr>
          <p:cNvPr id="47" name="shape"/>
          <p:cNvSpPr/>
          <p:nvPr/>
        </p:nvSpPr>
        <p:spPr>
          <a:xfrm>
            <a:off x="685800" y="1463040"/>
            <a:ext cx="3337560" cy="3291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48" name="shape"/>
          <p:cNvSpPr/>
          <p:nvPr/>
        </p:nvSpPr>
        <p:spPr>
          <a:xfrm>
            <a:off x="685800" y="1463040"/>
            <a:ext cx="82296" cy="3291840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9" name="text"/>
          <p:cNvSpPr txBox="1"/>
          <p:nvPr/>
        </p:nvSpPr>
        <p:spPr>
          <a:xfrm>
            <a:off x="941832" y="167335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QUOTE_WALL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941832" y="2103120"/>
            <a:ext cx="283464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只画实际可施工墙面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门洞位置不要画墙线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墙线长度会影响墙面乳胶漆、墙砖、防水</a:t>
            </a:r>
          </a:p>
        </p:txBody>
      </p:sp>
      <p:sp>
        <p:nvSpPr>
          <p:cNvPr id="51" name="shape"/>
          <p:cNvSpPr/>
          <p:nvPr/>
        </p:nvSpPr>
        <p:spPr>
          <a:xfrm>
            <a:off x="4416552" y="1463040"/>
            <a:ext cx="3337560" cy="3291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52" name="shape"/>
          <p:cNvSpPr/>
          <p:nvPr/>
        </p:nvSpPr>
        <p:spPr>
          <a:xfrm>
            <a:off x="4416552" y="1463040"/>
            <a:ext cx="82296" cy="3291840"/>
          </a:xfrm>
          <a:prstGeom prst="rect">
            <a:avLst/>
          </a:prstGeom>
          <a:solidFill>
            <a:srgbClr val="5ED0C5"/>
          </a:solidFill>
          <a:ln>
            <a:noFill/>
          </a:ln>
        </p:spPr>
      </p:sp>
      <p:sp>
        <p:nvSpPr>
          <p:cNvPr id="53" name="text"/>
          <p:cNvSpPr txBox="1"/>
          <p:nvPr/>
        </p:nvSpPr>
        <p:spPr>
          <a:xfrm>
            <a:off x="4672584" y="167335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QUOTE_OPENING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4672584" y="2103120"/>
            <a:ext cx="283464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用于开放边、非墙体边界、挑空边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与 QUOTE_WALL 重叠时会从墙面长度中排除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适合客餐厅开口、阳台开放边</a:t>
            </a:r>
          </a:p>
        </p:txBody>
      </p:sp>
      <p:sp>
        <p:nvSpPr>
          <p:cNvPr id="55" name="shape"/>
          <p:cNvSpPr/>
          <p:nvPr/>
        </p:nvSpPr>
        <p:spPr>
          <a:xfrm>
            <a:off x="8156448" y="1463040"/>
            <a:ext cx="3337560" cy="3291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56" name="shape"/>
          <p:cNvSpPr/>
          <p:nvPr/>
        </p:nvSpPr>
        <p:spPr>
          <a:xfrm>
            <a:off x="8156448" y="1463040"/>
            <a:ext cx="82296" cy="3291840"/>
          </a:xfrm>
          <a:prstGeom prst="rect">
            <a:avLst/>
          </a:prstGeom>
          <a:solidFill>
            <a:srgbClr val="D6A34D"/>
          </a:solidFill>
          <a:ln>
            <a:noFill/>
          </a:ln>
        </p:spPr>
      </p:sp>
      <p:sp>
        <p:nvSpPr>
          <p:cNvPr id="57" name="text"/>
          <p:cNvSpPr txBox="1"/>
          <p:nvPr/>
        </p:nvSpPr>
        <p:spPr>
          <a:xfrm>
            <a:off x="8412480" y="167335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QUOTE_DOOR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8412480" y="2103120"/>
            <a:ext cx="283464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普通门默认不扣墙面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大洞口会提示设计师确认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入户门、推拉门、卫生间门会进入对应报价口径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731520" y="5266944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25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记忆点：墙线表示“要做的墙”，门洞表示“这里开了门”，开放边表示“这里不是墙”。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07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画图规范 4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楼层和空间命名：让系统看懂图纸</a:t>
            </a:r>
          </a:p>
        </p:txBody>
      </p:sp>
      <p:sp>
        <p:nvSpPr>
          <p:cNvPr id="47" name="shape"/>
          <p:cNvSpPr/>
          <p:nvPr/>
        </p:nvSpPr>
        <p:spPr>
          <a:xfrm>
            <a:off x="640080" y="1417320"/>
            <a:ext cx="5166360" cy="3566160"/>
          </a:xfrm>
          <a:prstGeom prst="roundRect">
            <a:avLst/>
          </a:prstGeom>
          <a:solidFill>
            <a:srgbClr val="E8F6F3"/>
          </a:solidFill>
          <a:ln w="7620">
            <a:solidFill>
              <a:srgbClr val="CFE0E2"/>
            </a:solidFill>
          </a:ln>
        </p:spPr>
      </p:sp>
      <p:sp>
        <p:nvSpPr>
          <p:cNvPr id="48" name="shape"/>
          <p:cNvSpPr/>
          <p:nvPr/>
        </p:nvSpPr>
        <p:spPr>
          <a:xfrm>
            <a:off x="640080" y="1417320"/>
            <a:ext cx="82296" cy="3566160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9" name="text"/>
          <p:cNvSpPr txBox="1"/>
          <p:nvPr/>
        </p:nvSpPr>
        <p:spPr>
          <a:xfrm>
            <a:off x="896112" y="1627632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推荐命名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96112" y="2057400"/>
            <a:ext cx="466344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负二层-车库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负一层-影音室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一层-客厅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二层-主卧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三层-露台</a:t>
            </a:r>
          </a:p>
        </p:txBody>
      </p:sp>
      <p:sp>
        <p:nvSpPr>
          <p:cNvPr id="51" name="shape"/>
          <p:cNvSpPr/>
          <p:nvPr/>
        </p:nvSpPr>
        <p:spPr>
          <a:xfrm>
            <a:off x="6382512" y="1417320"/>
            <a:ext cx="5166360" cy="3566160"/>
          </a:xfrm>
          <a:prstGeom prst="roundRect">
            <a:avLst/>
          </a:prstGeom>
          <a:solidFill>
            <a:srgbClr val="FFF0EC"/>
          </a:solidFill>
          <a:ln w="7620">
            <a:solidFill>
              <a:srgbClr val="CFE0E2"/>
            </a:solidFill>
          </a:ln>
        </p:spPr>
      </p:sp>
      <p:sp>
        <p:nvSpPr>
          <p:cNvPr id="52" name="shape"/>
          <p:cNvSpPr/>
          <p:nvPr/>
        </p:nvSpPr>
        <p:spPr>
          <a:xfrm>
            <a:off x="6382512" y="1417320"/>
            <a:ext cx="82296" cy="3566160"/>
          </a:xfrm>
          <a:prstGeom prst="rect">
            <a:avLst/>
          </a:prstGeom>
          <a:solidFill>
            <a:srgbClr val="D45A4D"/>
          </a:solidFill>
          <a:ln>
            <a:noFill/>
          </a:ln>
        </p:spPr>
      </p:sp>
      <p:sp>
        <p:nvSpPr>
          <p:cNvPr id="53" name="text"/>
          <p:cNvSpPr txBox="1"/>
          <p:nvPr/>
        </p:nvSpPr>
        <p:spPr>
          <a:xfrm>
            <a:off x="6638544" y="1627632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不推荐命名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6638544" y="2057400"/>
            <a:ext cx="466344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过道/电梯井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客厅/楼梯间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卫生间+盥洗区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未命名空间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同一层多个空间重名且没有区分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777240" y="5321808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30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多层项目一定要带楼层；一个空间不能同时承担两个不同用途。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08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画图规范 5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厨卫、吊顶、柜体这些也能自动取数</a:t>
            </a:r>
          </a:p>
        </p:txBody>
      </p:sp>
      <p:sp>
        <p:nvSpPr>
          <p:cNvPr id="47" name="shape"/>
          <p:cNvSpPr/>
          <p:nvPr/>
        </p:nvSpPr>
        <p:spPr>
          <a:xfrm>
            <a:off x="685800" y="1371600"/>
            <a:ext cx="5074920" cy="914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48" name="shape"/>
          <p:cNvSpPr/>
          <p:nvPr/>
        </p:nvSpPr>
        <p:spPr>
          <a:xfrm>
            <a:off x="685800" y="1371600"/>
            <a:ext cx="82296" cy="914400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9" name="text"/>
          <p:cNvSpPr txBox="1"/>
          <p:nvPr/>
        </p:nvSpPr>
        <p:spPr>
          <a:xfrm>
            <a:off x="941832" y="158191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QUOTE_WALL_TILE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941832" y="2011680"/>
            <a:ext cx="4572000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任意空间贴砖墙线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用于墙砖面积</a:t>
            </a:r>
          </a:p>
        </p:txBody>
      </p:sp>
      <p:sp>
        <p:nvSpPr>
          <p:cNvPr id="51" name="shape"/>
          <p:cNvSpPr/>
          <p:nvPr/>
        </p:nvSpPr>
        <p:spPr>
          <a:xfrm>
            <a:off x="6172200" y="1371600"/>
            <a:ext cx="5074920" cy="914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52" name="shape"/>
          <p:cNvSpPr/>
          <p:nvPr/>
        </p:nvSpPr>
        <p:spPr>
          <a:xfrm>
            <a:off x="6172200" y="1371600"/>
            <a:ext cx="82296" cy="914400"/>
          </a:xfrm>
          <a:prstGeom prst="rect">
            <a:avLst/>
          </a:prstGeom>
          <a:solidFill>
            <a:srgbClr val="D6A34D"/>
          </a:solidFill>
          <a:ln>
            <a:noFill/>
          </a:ln>
        </p:spPr>
      </p:sp>
      <p:sp>
        <p:nvSpPr>
          <p:cNvPr id="53" name="text"/>
          <p:cNvSpPr txBox="1"/>
          <p:nvPr/>
        </p:nvSpPr>
        <p:spPr>
          <a:xfrm>
            <a:off x="6428232" y="158191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QUOTE_EDGE_CEILING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6428232" y="2011680"/>
            <a:ext cx="4572000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边吊 / 双眼皮吊顶闭合范围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用于边吊面积和周长</a:t>
            </a:r>
          </a:p>
        </p:txBody>
      </p:sp>
      <p:sp>
        <p:nvSpPr>
          <p:cNvPr id="55" name="shape"/>
          <p:cNvSpPr/>
          <p:nvPr/>
        </p:nvSpPr>
        <p:spPr>
          <a:xfrm>
            <a:off x="685800" y="2633472"/>
            <a:ext cx="5074920" cy="914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56" name="shape"/>
          <p:cNvSpPr/>
          <p:nvPr/>
        </p:nvSpPr>
        <p:spPr>
          <a:xfrm>
            <a:off x="685800" y="2633472"/>
            <a:ext cx="82296" cy="914400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7" name="text"/>
          <p:cNvSpPr txBox="1"/>
          <p:nvPr/>
        </p:nvSpPr>
        <p:spPr>
          <a:xfrm>
            <a:off x="941832" y="2843784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QUOTE_GYPSUM_LINE_CEILING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941832" y="3273552"/>
            <a:ext cx="4572000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石膏线吊顶闭合范围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用于石膏线吊顶</a:t>
            </a:r>
          </a:p>
        </p:txBody>
      </p:sp>
      <p:sp>
        <p:nvSpPr>
          <p:cNvPr id="59" name="shape"/>
          <p:cNvSpPr/>
          <p:nvPr/>
        </p:nvSpPr>
        <p:spPr>
          <a:xfrm>
            <a:off x="6172200" y="2633472"/>
            <a:ext cx="5074920" cy="914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60" name="shape"/>
          <p:cNvSpPr/>
          <p:nvPr/>
        </p:nvSpPr>
        <p:spPr>
          <a:xfrm>
            <a:off x="6172200" y="2633472"/>
            <a:ext cx="82296" cy="914400"/>
          </a:xfrm>
          <a:prstGeom prst="rect">
            <a:avLst/>
          </a:prstGeom>
          <a:solidFill>
            <a:srgbClr val="D6A34D"/>
          </a:solidFill>
          <a:ln>
            <a:noFill/>
          </a:ln>
        </p:spPr>
      </p:sp>
      <p:sp>
        <p:nvSpPr>
          <p:cNvPr id="61" name="text"/>
          <p:cNvSpPr txBox="1"/>
          <p:nvPr/>
        </p:nvSpPr>
        <p:spPr>
          <a:xfrm>
            <a:off x="6428232" y="2843784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QUOTE_NO_CEILING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6428232" y="3273552"/>
            <a:ext cx="4572000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原顶无吊顶范围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用于扣减轻钢龙骨平顶</a:t>
            </a:r>
          </a:p>
        </p:txBody>
      </p:sp>
      <p:sp>
        <p:nvSpPr>
          <p:cNvPr id="63" name="shape"/>
          <p:cNvSpPr/>
          <p:nvPr/>
        </p:nvSpPr>
        <p:spPr>
          <a:xfrm>
            <a:off x="685800" y="3895344"/>
            <a:ext cx="5074920" cy="914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64" name="shape"/>
          <p:cNvSpPr/>
          <p:nvPr/>
        </p:nvSpPr>
        <p:spPr>
          <a:xfrm>
            <a:off x="685800" y="3895344"/>
            <a:ext cx="82296" cy="914400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5" name="text"/>
          <p:cNvSpPr txBox="1"/>
          <p:nvPr/>
        </p:nvSpPr>
        <p:spPr>
          <a:xfrm>
            <a:off x="941832" y="4105656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QUOTE_BASE_CABINET / QUOTE_WALL_CABINET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941832" y="4535424"/>
            <a:ext cx="4572000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厨房地柜 / 吊柜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用于橱柜延米</a:t>
            </a:r>
          </a:p>
        </p:txBody>
      </p:sp>
      <p:sp>
        <p:nvSpPr>
          <p:cNvPr id="67" name="shape"/>
          <p:cNvSpPr/>
          <p:nvPr/>
        </p:nvSpPr>
        <p:spPr>
          <a:xfrm>
            <a:off x="6172200" y="3895344"/>
            <a:ext cx="5074920" cy="914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68" name="shape"/>
          <p:cNvSpPr/>
          <p:nvPr/>
        </p:nvSpPr>
        <p:spPr>
          <a:xfrm>
            <a:off x="6172200" y="3895344"/>
            <a:ext cx="82296" cy="914400"/>
          </a:xfrm>
          <a:prstGeom prst="rect">
            <a:avLst/>
          </a:prstGeom>
          <a:solidFill>
            <a:srgbClr val="D6A34D"/>
          </a:solidFill>
          <a:ln>
            <a:noFill/>
          </a:ln>
        </p:spPr>
      </p:sp>
      <p:sp>
        <p:nvSpPr>
          <p:cNvPr id="69" name="text"/>
          <p:cNvSpPr txBox="1"/>
          <p:nvPr/>
        </p:nvSpPr>
        <p:spPr>
          <a:xfrm>
            <a:off x="6428232" y="4105656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QUOTE_CUSTOM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6428232" y="4535424"/>
            <a:ext cx="4572000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非厨房定制柜体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用于全屋定制面积</a:t>
            </a:r>
          </a:p>
        </p:txBody>
      </p:sp>
      <p:sp>
        <p:nvSpPr>
          <p:cNvPr id="71" name="text"/>
          <p:cNvSpPr txBox="1"/>
          <p:nvPr/>
        </p:nvSpPr>
        <p:spPr>
          <a:xfrm>
            <a:off x="685800" y="530352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7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这些图层不是每张方案都必须画，但画得越规范，预算越少依赖人工补数。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09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画图交付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上传前 60 秒自查清单</a:t>
            </a:r>
          </a:p>
        </p:txBody>
      </p:sp>
      <p:sp>
        <p:nvSpPr>
          <p:cNvPr id="47" name="shape"/>
          <p:cNvSpPr/>
          <p:nvPr/>
        </p:nvSpPr>
        <p:spPr>
          <a:xfrm>
            <a:off x="685800" y="1417320"/>
            <a:ext cx="5029200" cy="603504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48" name="shape"/>
          <p:cNvSpPr/>
          <p:nvPr/>
        </p:nvSpPr>
        <p:spPr>
          <a:xfrm>
            <a:off x="886968" y="1581912"/>
            <a:ext cx="256032" cy="256032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9" name="text"/>
          <p:cNvSpPr txBox="1"/>
          <p:nvPr/>
        </p:nvSpPr>
        <p:spPr>
          <a:xfrm>
            <a:off x="1271016" y="1527048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8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空间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2075688" y="1527048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每个空间是否闭合、互不重叠？</a:t>
            </a:r>
          </a:p>
        </p:txBody>
      </p:sp>
      <p:sp>
        <p:nvSpPr>
          <p:cNvPr id="51" name="shape"/>
          <p:cNvSpPr/>
          <p:nvPr/>
        </p:nvSpPr>
        <p:spPr>
          <a:xfrm>
            <a:off x="6217920" y="1417320"/>
            <a:ext cx="5029200" cy="603504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52" name="shape"/>
          <p:cNvSpPr/>
          <p:nvPr/>
        </p:nvSpPr>
        <p:spPr>
          <a:xfrm>
            <a:off x="6419088" y="1581912"/>
            <a:ext cx="256032" cy="256032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3" name="text"/>
          <p:cNvSpPr txBox="1"/>
          <p:nvPr/>
        </p:nvSpPr>
        <p:spPr>
          <a:xfrm>
            <a:off x="6803136" y="1527048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8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楼层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7607808" y="1527048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多层图纸是否写清负二层、一层、二层？</a:t>
            </a:r>
          </a:p>
        </p:txBody>
      </p:sp>
      <p:sp>
        <p:nvSpPr>
          <p:cNvPr id="55" name="shape"/>
          <p:cNvSpPr/>
          <p:nvPr/>
        </p:nvSpPr>
        <p:spPr>
          <a:xfrm>
            <a:off x="685800" y="2286000"/>
            <a:ext cx="5029200" cy="603504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56" name="shape"/>
          <p:cNvSpPr/>
          <p:nvPr/>
        </p:nvSpPr>
        <p:spPr>
          <a:xfrm>
            <a:off x="886968" y="2450592"/>
            <a:ext cx="256032" cy="256032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7" name="text"/>
          <p:cNvSpPr txBox="1"/>
          <p:nvPr/>
        </p:nvSpPr>
        <p:spPr>
          <a:xfrm>
            <a:off x="1271016" y="2395728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8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命名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2075688" y="2395728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是否避免“过道/电梯井”这类混合名称？</a:t>
            </a:r>
          </a:p>
        </p:txBody>
      </p:sp>
      <p:sp>
        <p:nvSpPr>
          <p:cNvPr id="59" name="shape"/>
          <p:cNvSpPr/>
          <p:nvPr/>
        </p:nvSpPr>
        <p:spPr>
          <a:xfrm>
            <a:off x="6217920" y="2286000"/>
            <a:ext cx="5029200" cy="603504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60" name="shape"/>
          <p:cNvSpPr/>
          <p:nvPr/>
        </p:nvSpPr>
        <p:spPr>
          <a:xfrm>
            <a:off x="6419088" y="2450592"/>
            <a:ext cx="256032" cy="256032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1" name="text"/>
          <p:cNvSpPr txBox="1"/>
          <p:nvPr/>
        </p:nvSpPr>
        <p:spPr>
          <a:xfrm>
            <a:off x="6803136" y="2395728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8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墙线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7607808" y="2395728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门洞位置是否没有误画墙线？</a:t>
            </a:r>
          </a:p>
        </p:txBody>
      </p:sp>
      <p:sp>
        <p:nvSpPr>
          <p:cNvPr id="63" name="shape"/>
          <p:cNvSpPr/>
          <p:nvPr/>
        </p:nvSpPr>
        <p:spPr>
          <a:xfrm>
            <a:off x="685800" y="3154680"/>
            <a:ext cx="5029200" cy="603504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64" name="shape"/>
          <p:cNvSpPr/>
          <p:nvPr/>
        </p:nvSpPr>
        <p:spPr>
          <a:xfrm>
            <a:off x="886968" y="3319272"/>
            <a:ext cx="256032" cy="256032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5" name="text"/>
          <p:cNvSpPr txBox="1"/>
          <p:nvPr/>
        </p:nvSpPr>
        <p:spPr>
          <a:xfrm>
            <a:off x="1271016" y="3264408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8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外墙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2075688" y="3264408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QUOTE_EXT_WALL 是否闭合？</a:t>
            </a:r>
          </a:p>
        </p:txBody>
      </p:sp>
      <p:sp>
        <p:nvSpPr>
          <p:cNvPr id="67" name="shape"/>
          <p:cNvSpPr/>
          <p:nvPr/>
        </p:nvSpPr>
        <p:spPr>
          <a:xfrm>
            <a:off x="6217920" y="3154680"/>
            <a:ext cx="5029200" cy="603504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68" name="shape"/>
          <p:cNvSpPr/>
          <p:nvPr/>
        </p:nvSpPr>
        <p:spPr>
          <a:xfrm>
            <a:off x="6419088" y="3319272"/>
            <a:ext cx="256032" cy="256032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9" name="text"/>
          <p:cNvSpPr txBox="1"/>
          <p:nvPr/>
        </p:nvSpPr>
        <p:spPr>
          <a:xfrm>
            <a:off x="6803136" y="3264408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8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门窗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7607808" y="3264408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门窗、窗高是否按规范标注？</a:t>
            </a:r>
          </a:p>
        </p:txBody>
      </p:sp>
      <p:sp>
        <p:nvSpPr>
          <p:cNvPr id="71" name="shape"/>
          <p:cNvSpPr/>
          <p:nvPr/>
        </p:nvSpPr>
        <p:spPr>
          <a:xfrm>
            <a:off x="685800" y="4023360"/>
            <a:ext cx="5029200" cy="603504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72" name="shape"/>
          <p:cNvSpPr/>
          <p:nvPr/>
        </p:nvSpPr>
        <p:spPr>
          <a:xfrm>
            <a:off x="886968" y="4187952"/>
            <a:ext cx="256032" cy="256032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3" name="text"/>
          <p:cNvSpPr txBox="1"/>
          <p:nvPr/>
        </p:nvSpPr>
        <p:spPr>
          <a:xfrm>
            <a:off x="1271016" y="4133088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8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特殊项</a:t>
            </a:r>
          </a:p>
        </p:txBody>
      </p:sp>
      <p:sp>
        <p:nvSpPr>
          <p:cNvPr id="74" name="text"/>
          <p:cNvSpPr txBox="1"/>
          <p:nvPr/>
        </p:nvSpPr>
        <p:spPr>
          <a:xfrm>
            <a:off x="2075688" y="4133088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吊顶、柜体、贴砖墙线是否分图层？</a:t>
            </a:r>
          </a:p>
        </p:txBody>
      </p:sp>
      <p:sp>
        <p:nvSpPr>
          <p:cNvPr id="75" name="shape"/>
          <p:cNvSpPr/>
          <p:nvPr/>
        </p:nvSpPr>
        <p:spPr>
          <a:xfrm>
            <a:off x="6217920" y="4023360"/>
            <a:ext cx="5029200" cy="603504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76" name="shape"/>
          <p:cNvSpPr/>
          <p:nvPr/>
        </p:nvSpPr>
        <p:spPr>
          <a:xfrm>
            <a:off x="6419088" y="4187952"/>
            <a:ext cx="256032" cy="256032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7" name="text"/>
          <p:cNvSpPr txBox="1"/>
          <p:nvPr/>
        </p:nvSpPr>
        <p:spPr>
          <a:xfrm>
            <a:off x="6803136" y="4133088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8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保存</a:t>
            </a:r>
          </a:p>
        </p:txBody>
      </p:sp>
      <p:sp>
        <p:nvSpPr>
          <p:cNvPr id="78" name="text"/>
          <p:cNvSpPr txBox="1"/>
          <p:nvPr/>
        </p:nvSpPr>
        <p:spPr>
          <a:xfrm>
            <a:off x="7607808" y="4133088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DWG/DXF 文件是否是最新方案？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10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平台操作 1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平台使用：进入首页并上传方案</a:t>
            </a:r>
          </a:p>
        </p:txBody>
      </p:sp>
      <p:sp>
        <p:nvSpPr>
          <p:cNvPr id="47" name="shape"/>
          <p:cNvSpPr/>
          <p:nvPr/>
        </p:nvSpPr>
        <p:spPr>
          <a:xfrm>
            <a:off x="749808" y="1417320"/>
            <a:ext cx="10716768" cy="3063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E2"/>
            </a:solidFill>
          </a:ln>
        </p:spPr>
      </p:sp>
      <p:sp>
        <p:nvSpPr>
          <p:cNvPr id="48" name="text"/>
          <p:cNvSpPr txBox="1"/>
          <p:nvPr/>
        </p:nvSpPr>
        <p:spPr>
          <a:xfrm>
            <a:off x="1078992" y="17190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1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整装预算报价系统</a:t>
            </a:r>
          </a:p>
        </p:txBody>
      </p:sp>
      <p:sp>
        <p:nvSpPr>
          <p:cNvPr id="49" name="shape"/>
          <p:cNvSpPr/>
          <p:nvPr/>
        </p:nvSpPr>
        <p:spPr>
          <a:xfrm>
            <a:off x="1097280" y="2359152"/>
            <a:ext cx="1417320" cy="329184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0" name="text"/>
          <p:cNvSpPr txBox="1"/>
          <p:nvPr/>
        </p:nvSpPr>
        <p:spPr>
          <a:xfrm>
            <a:off x="1170432" y="2427732"/>
            <a:ext cx="127101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方案上传</a:t>
            </a:r>
          </a:p>
        </p:txBody>
      </p:sp>
      <p:sp>
        <p:nvSpPr>
          <p:cNvPr id="51" name="shape"/>
          <p:cNvSpPr/>
          <p:nvPr/>
        </p:nvSpPr>
        <p:spPr>
          <a:xfrm>
            <a:off x="2743200" y="2359152"/>
            <a:ext cx="1600200" cy="329184"/>
          </a:xfrm>
          <a:prstGeom prst="roundRect">
            <a:avLst/>
          </a:prstGeom>
          <a:solidFill>
            <a:srgbClr val="EAF2F2"/>
          </a:solidFill>
          <a:ln>
            <a:noFill/>
          </a:ln>
        </p:spPr>
      </p:sp>
      <p:sp>
        <p:nvSpPr>
          <p:cNvPr id="52" name="text"/>
          <p:cNvSpPr txBox="1"/>
          <p:nvPr/>
        </p:nvSpPr>
        <p:spPr>
          <a:xfrm>
            <a:off x="2816352" y="2427732"/>
            <a:ext cx="145389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0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完整性复核</a:t>
            </a:r>
          </a:p>
        </p:txBody>
      </p:sp>
      <p:sp>
        <p:nvSpPr>
          <p:cNvPr id="53" name="shape"/>
          <p:cNvSpPr/>
          <p:nvPr/>
        </p:nvSpPr>
        <p:spPr>
          <a:xfrm>
            <a:off x="4572000" y="2359152"/>
            <a:ext cx="1417320" cy="329184"/>
          </a:xfrm>
          <a:prstGeom prst="roundRect">
            <a:avLst/>
          </a:prstGeom>
          <a:solidFill>
            <a:srgbClr val="EAF2F2"/>
          </a:solidFill>
          <a:ln>
            <a:noFill/>
          </a:ln>
        </p:spPr>
      </p:sp>
      <p:sp>
        <p:nvSpPr>
          <p:cNvPr id="54" name="text"/>
          <p:cNvSpPr txBox="1"/>
          <p:nvPr/>
        </p:nvSpPr>
        <p:spPr>
          <a:xfrm>
            <a:off x="4645152" y="2427732"/>
            <a:ext cx="127101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0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预算导出</a:t>
            </a:r>
          </a:p>
        </p:txBody>
      </p:sp>
      <p:sp>
        <p:nvSpPr>
          <p:cNvPr id="55" name="shape"/>
          <p:cNvSpPr/>
          <p:nvPr/>
        </p:nvSpPr>
        <p:spPr>
          <a:xfrm>
            <a:off x="7406640" y="1938528"/>
            <a:ext cx="2103120" cy="594360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6" name="text"/>
          <p:cNvSpPr txBox="1"/>
          <p:nvPr/>
        </p:nvSpPr>
        <p:spPr>
          <a:xfrm>
            <a:off x="7726680" y="2121408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方案上传</a:t>
            </a:r>
          </a:p>
        </p:txBody>
      </p:sp>
      <p:sp>
        <p:nvSpPr>
          <p:cNvPr id="57" name="shape"/>
          <p:cNvSpPr/>
          <p:nvPr/>
        </p:nvSpPr>
        <p:spPr>
          <a:xfrm>
            <a:off x="9710928" y="1938528"/>
            <a:ext cx="12801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E2"/>
            </a:solidFill>
          </a:ln>
        </p:spPr>
      </p:sp>
      <p:sp>
        <p:nvSpPr>
          <p:cNvPr id="58" name="text"/>
          <p:cNvSpPr txBox="1"/>
          <p:nvPr/>
        </p:nvSpPr>
        <p:spPr>
          <a:xfrm>
            <a:off x="9902952" y="2121408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97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DWG/DXF</a:t>
            </a:r>
          </a:p>
        </p:txBody>
      </p:sp>
      <p:sp>
        <p:nvSpPr>
          <p:cNvPr id="59" name="shape"/>
          <p:cNvSpPr/>
          <p:nvPr/>
        </p:nvSpPr>
        <p:spPr>
          <a:xfrm>
            <a:off x="914400" y="4828032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0" name="text"/>
          <p:cNvSpPr txBox="1"/>
          <p:nvPr/>
        </p:nvSpPr>
        <p:spPr>
          <a:xfrm>
            <a:off x="1133856" y="475488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12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点击“方案上传”</a:t>
            </a:r>
          </a:p>
        </p:txBody>
      </p:sp>
      <p:sp>
        <p:nvSpPr>
          <p:cNvPr id="61" name="shape"/>
          <p:cNvSpPr/>
          <p:nvPr/>
        </p:nvSpPr>
        <p:spPr>
          <a:xfrm>
            <a:off x="914400" y="5221224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2" name="text"/>
          <p:cNvSpPr txBox="1"/>
          <p:nvPr/>
        </p:nvSpPr>
        <p:spPr>
          <a:xfrm>
            <a:off x="1133856" y="514807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12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选择 DWG 或 DXF 文件</a:t>
            </a:r>
          </a:p>
        </p:txBody>
      </p:sp>
      <p:sp>
        <p:nvSpPr>
          <p:cNvPr id="63" name="shape"/>
          <p:cNvSpPr/>
          <p:nvPr/>
        </p:nvSpPr>
        <p:spPr>
          <a:xfrm>
            <a:off x="914400" y="5614416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4" name="text"/>
          <p:cNvSpPr txBox="1"/>
          <p:nvPr/>
        </p:nvSpPr>
        <p:spPr>
          <a:xfrm>
            <a:off x="1133856" y="5541264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12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等待系统解析完成，不要重复点击</a:t>
            </a:r>
          </a:p>
        </p:txBody>
      </p:sp>
      <p:sp>
        <p:nvSpPr>
          <p:cNvPr id="65" name="shape"/>
          <p:cNvSpPr/>
          <p:nvPr/>
        </p:nvSpPr>
        <p:spPr>
          <a:xfrm>
            <a:off x="6583680" y="4617720"/>
            <a:ext cx="4572000" cy="914400"/>
          </a:xfrm>
          <a:prstGeom prst="roundRect">
            <a:avLst/>
          </a:prstGeom>
          <a:solidFill>
            <a:srgbClr val="FFF6E0"/>
          </a:solidFill>
          <a:ln w="7620">
            <a:solidFill>
              <a:srgbClr val="CFE0E2"/>
            </a:solidFill>
          </a:ln>
        </p:spPr>
      </p:sp>
      <p:sp>
        <p:nvSpPr>
          <p:cNvPr id="66" name="shape"/>
          <p:cNvSpPr/>
          <p:nvPr/>
        </p:nvSpPr>
        <p:spPr>
          <a:xfrm>
            <a:off x="6583680" y="4617720"/>
            <a:ext cx="82296" cy="914400"/>
          </a:xfrm>
          <a:prstGeom prst="rect">
            <a:avLst/>
          </a:prstGeom>
          <a:solidFill>
            <a:srgbClr val="D6A34D"/>
          </a:solidFill>
          <a:ln>
            <a:noFill/>
          </a:ln>
        </p:spPr>
      </p:sp>
      <p:sp>
        <p:nvSpPr>
          <p:cNvPr id="67" name="text"/>
          <p:cNvSpPr txBox="1"/>
          <p:nvPr/>
        </p:nvSpPr>
        <p:spPr>
          <a:xfrm>
            <a:off x="6839712" y="4828032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提示</a:t>
            </a:r>
          </a:p>
        </p:txBody>
      </p:sp>
      <p:sp>
        <p:nvSpPr>
          <p:cNvPr id="68" name="text"/>
          <p:cNvSpPr txBox="1"/>
          <p:nvPr/>
        </p:nvSpPr>
        <p:spPr>
          <a:xfrm>
            <a:off x="6839712" y="5257800"/>
            <a:ext cx="4069080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如果 DWG 转换失败，先让 CAD 另存为 DXF 再上传，或联系管理员检查转换器。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11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平台操作 2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平台使用：先看方案完整性复核</a:t>
            </a:r>
          </a:p>
        </p:txBody>
      </p:sp>
      <p:sp>
        <p:nvSpPr>
          <p:cNvPr id="47" name="shape"/>
          <p:cNvSpPr/>
          <p:nvPr/>
        </p:nvSpPr>
        <p:spPr>
          <a:xfrm>
            <a:off x="749808" y="1417320"/>
            <a:ext cx="1600200" cy="749808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48" name="text"/>
          <p:cNvSpPr txBox="1"/>
          <p:nvPr/>
        </p:nvSpPr>
        <p:spPr>
          <a:xfrm>
            <a:off x="905256" y="1572768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8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空间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905256" y="181051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4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46</a:t>
            </a:r>
          </a:p>
        </p:txBody>
      </p:sp>
      <p:sp>
        <p:nvSpPr>
          <p:cNvPr id="50" name="shape"/>
          <p:cNvSpPr/>
          <p:nvPr/>
        </p:nvSpPr>
        <p:spPr>
          <a:xfrm>
            <a:off x="2578608" y="1417320"/>
            <a:ext cx="1600200" cy="749808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51" name="text"/>
          <p:cNvSpPr txBox="1"/>
          <p:nvPr/>
        </p:nvSpPr>
        <p:spPr>
          <a:xfrm>
            <a:off x="2734056" y="1572768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8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建筑面积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2734056" y="181051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4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509.78 m2</a:t>
            </a:r>
          </a:p>
        </p:txBody>
      </p:sp>
      <p:sp>
        <p:nvSpPr>
          <p:cNvPr id="53" name="shape"/>
          <p:cNvSpPr/>
          <p:nvPr/>
        </p:nvSpPr>
        <p:spPr>
          <a:xfrm>
            <a:off x="4407408" y="1417320"/>
            <a:ext cx="1600200" cy="749808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54" name="text"/>
          <p:cNvSpPr txBox="1"/>
          <p:nvPr/>
        </p:nvSpPr>
        <p:spPr>
          <a:xfrm>
            <a:off x="4562856" y="1572768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8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地面面积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4562856" y="181051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4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446.26 m2</a:t>
            </a:r>
          </a:p>
        </p:txBody>
      </p:sp>
      <p:sp>
        <p:nvSpPr>
          <p:cNvPr id="56" name="shape"/>
          <p:cNvSpPr/>
          <p:nvPr/>
        </p:nvSpPr>
        <p:spPr>
          <a:xfrm>
            <a:off x="6236208" y="1417320"/>
            <a:ext cx="1600200" cy="749808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57" name="text"/>
          <p:cNvSpPr txBox="1"/>
          <p:nvPr/>
        </p:nvSpPr>
        <p:spPr>
          <a:xfrm>
            <a:off x="6391656" y="1572768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8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墙砖面积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6391656" y="181051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4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1008.85 m2</a:t>
            </a:r>
          </a:p>
        </p:txBody>
      </p:sp>
      <p:sp>
        <p:nvSpPr>
          <p:cNvPr id="59" name="shape"/>
          <p:cNvSpPr/>
          <p:nvPr/>
        </p:nvSpPr>
        <p:spPr>
          <a:xfrm>
            <a:off x="8065008" y="1417320"/>
            <a:ext cx="1600200" cy="749808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60" name="text"/>
          <p:cNvSpPr txBox="1"/>
          <p:nvPr/>
        </p:nvSpPr>
        <p:spPr>
          <a:xfrm>
            <a:off x="8220456" y="1572768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8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窗洞面积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8220456" y="181051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4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85.28 m2</a:t>
            </a:r>
          </a:p>
        </p:txBody>
      </p:sp>
      <p:sp>
        <p:nvSpPr>
          <p:cNvPr id="62" name="shape"/>
          <p:cNvSpPr/>
          <p:nvPr/>
        </p:nvSpPr>
        <p:spPr>
          <a:xfrm>
            <a:off x="777240" y="2487168"/>
            <a:ext cx="4709160" cy="2514600"/>
          </a:xfrm>
          <a:prstGeom prst="roundRect">
            <a:avLst/>
          </a:prstGeom>
          <a:solidFill>
            <a:srgbClr val="123C49"/>
          </a:solidFill>
          <a:ln w="11430">
            <a:solidFill>
              <a:srgbClr val="2B7180"/>
            </a:solidFill>
          </a:ln>
        </p:spPr>
      </p:sp>
      <p:sp>
        <p:nvSpPr>
          <p:cNvPr id="63" name="shape"/>
          <p:cNvSpPr/>
          <p:nvPr/>
        </p:nvSpPr>
        <p:spPr>
          <a:xfrm>
            <a:off x="1033272" y="2779776"/>
            <a:ext cx="1695298" cy="1056132"/>
          </a:xfrm>
          <a:prstGeom prst="rect">
            <a:avLst/>
          </a:prstGeom>
          <a:solidFill>
            <a:srgbClr val="1E5864"/>
          </a:solidFill>
          <a:ln w="12000">
            <a:solidFill>
              <a:srgbClr val="5ED0C5"/>
            </a:solidFill>
          </a:ln>
        </p:spPr>
      </p:sp>
      <p:sp>
        <p:nvSpPr>
          <p:cNvPr id="64" name="shape"/>
          <p:cNvSpPr/>
          <p:nvPr/>
        </p:nvSpPr>
        <p:spPr>
          <a:xfrm>
            <a:off x="3367278" y="2743200"/>
            <a:ext cx="1318565" cy="1207008"/>
          </a:xfrm>
          <a:prstGeom prst="rect">
            <a:avLst/>
          </a:prstGeom>
          <a:solidFill>
            <a:srgbClr val="254D55"/>
          </a:solidFill>
          <a:ln w="12000">
            <a:solidFill>
              <a:srgbClr val="5ED0C5"/>
            </a:solidFill>
          </a:ln>
        </p:spPr>
      </p:sp>
      <p:sp>
        <p:nvSpPr>
          <p:cNvPr id="65" name="shape"/>
          <p:cNvSpPr/>
          <p:nvPr/>
        </p:nvSpPr>
        <p:spPr>
          <a:xfrm>
            <a:off x="1069848" y="3945636"/>
            <a:ext cx="2354580" cy="603504"/>
          </a:xfrm>
          <a:prstGeom prst="rect">
            <a:avLst/>
          </a:prstGeom>
          <a:solidFill>
            <a:srgbClr val="213F4A"/>
          </a:solidFill>
          <a:ln w="12000">
            <a:solidFill>
              <a:srgbClr val="5ED0C5"/>
            </a:solidFill>
          </a:ln>
        </p:spPr>
      </p:sp>
      <p:sp>
        <p:nvSpPr>
          <p:cNvPr id="66" name="shape"/>
          <p:cNvSpPr/>
          <p:nvPr/>
        </p:nvSpPr>
        <p:spPr>
          <a:xfrm>
            <a:off x="1444752" y="3145536"/>
            <a:ext cx="109728" cy="109728"/>
          </a:xfrm>
          <a:prstGeom prst="ellipse">
            <a:avLst/>
          </a:prstGeom>
          <a:solidFill>
            <a:srgbClr val="D6A34D"/>
          </a:solidFill>
          <a:ln w="9525">
            <a:solidFill>
              <a:srgbClr val="FFFFFF"/>
            </a:solidFill>
          </a:ln>
        </p:spPr>
      </p:sp>
      <p:sp>
        <p:nvSpPr>
          <p:cNvPr id="67" name="shape"/>
          <p:cNvSpPr/>
          <p:nvPr/>
        </p:nvSpPr>
        <p:spPr>
          <a:xfrm>
            <a:off x="2194560" y="2980944"/>
            <a:ext cx="109728" cy="109728"/>
          </a:xfrm>
          <a:prstGeom prst="ellipse">
            <a:avLst/>
          </a:prstGeom>
          <a:solidFill>
            <a:srgbClr val="D6A34D"/>
          </a:solidFill>
          <a:ln w="9525">
            <a:solidFill>
              <a:srgbClr val="FFFFFF"/>
            </a:solidFill>
          </a:ln>
        </p:spPr>
      </p:sp>
      <p:sp>
        <p:nvSpPr>
          <p:cNvPr id="68" name="shape"/>
          <p:cNvSpPr/>
          <p:nvPr/>
        </p:nvSpPr>
        <p:spPr>
          <a:xfrm>
            <a:off x="6080760" y="2615184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9" name="text"/>
          <p:cNvSpPr txBox="1"/>
          <p:nvPr/>
        </p:nvSpPr>
        <p:spPr>
          <a:xfrm>
            <a:off x="6300216" y="254203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9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建筑面积为 0：检查 QUOTE_EXT_WALL 是否闭合</a:t>
            </a:r>
          </a:p>
        </p:txBody>
      </p:sp>
      <p:sp>
        <p:nvSpPr>
          <p:cNvPr id="70" name="shape"/>
          <p:cNvSpPr/>
          <p:nvPr/>
        </p:nvSpPr>
        <p:spPr>
          <a:xfrm>
            <a:off x="6080760" y="3118104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1" name="text"/>
          <p:cNvSpPr txBox="1"/>
          <p:nvPr/>
        </p:nvSpPr>
        <p:spPr>
          <a:xfrm>
            <a:off x="6300216" y="304495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9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空间数量异常：检查是否漏画 QUOTE_ROOM</a:t>
            </a:r>
          </a:p>
        </p:txBody>
      </p:sp>
      <p:sp>
        <p:nvSpPr>
          <p:cNvPr id="72" name="shape"/>
          <p:cNvSpPr/>
          <p:nvPr/>
        </p:nvSpPr>
        <p:spPr>
          <a:xfrm>
            <a:off x="6080760" y="3621024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3" name="text"/>
          <p:cNvSpPr txBox="1"/>
          <p:nvPr/>
        </p:nvSpPr>
        <p:spPr>
          <a:xfrm>
            <a:off x="6300216" y="354787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9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某个房间面积不对：检查空间是否重叠或没闭合</a:t>
            </a:r>
          </a:p>
        </p:txBody>
      </p:sp>
      <p:sp>
        <p:nvSpPr>
          <p:cNvPr id="74" name="shape"/>
          <p:cNvSpPr/>
          <p:nvPr/>
        </p:nvSpPr>
        <p:spPr>
          <a:xfrm>
            <a:off x="6080760" y="4123944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5" name="text"/>
          <p:cNvSpPr txBox="1"/>
          <p:nvPr/>
        </p:nvSpPr>
        <p:spPr>
          <a:xfrm>
            <a:off x="6300216" y="405079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9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门窗扣减异常：查看门窗标记是否归属到正确空间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12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平台操作 3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平台使用：确认方案报价可选项</a:t>
            </a:r>
          </a:p>
        </p:txBody>
      </p:sp>
      <p:sp>
        <p:nvSpPr>
          <p:cNvPr id="47" name="shape"/>
          <p:cNvSpPr/>
          <p:nvPr/>
        </p:nvSpPr>
        <p:spPr>
          <a:xfrm>
            <a:off x="731520" y="1389888"/>
            <a:ext cx="10698480" cy="1097280"/>
          </a:xfrm>
          <a:prstGeom prst="roundRect">
            <a:avLst/>
          </a:prstGeom>
          <a:solidFill>
            <a:srgbClr val="E8F6F3"/>
          </a:solidFill>
          <a:ln w="7620">
            <a:solidFill>
              <a:srgbClr val="CFE0E2"/>
            </a:solidFill>
          </a:ln>
        </p:spPr>
      </p:sp>
      <p:sp>
        <p:nvSpPr>
          <p:cNvPr id="48" name="shape"/>
          <p:cNvSpPr/>
          <p:nvPr/>
        </p:nvSpPr>
        <p:spPr>
          <a:xfrm>
            <a:off x="731520" y="1389888"/>
            <a:ext cx="82296" cy="1097280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9" name="text"/>
          <p:cNvSpPr txBox="1"/>
          <p:nvPr/>
        </p:nvSpPr>
        <p:spPr>
          <a:xfrm>
            <a:off x="987552" y="1600200"/>
            <a:ext cx="10195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铝合金窗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987552" y="2029968"/>
            <a:ext cx="10195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设计师可以选择是否加入本次预算，也可以调整面积和单价；总价会自动按面积 × 单价计算。</a:t>
            </a:r>
          </a:p>
        </p:txBody>
      </p:sp>
      <p:sp>
        <p:nvSpPr>
          <p:cNvPr id="51" name="shape"/>
          <p:cNvSpPr/>
          <p:nvPr/>
        </p:nvSpPr>
        <p:spPr>
          <a:xfrm>
            <a:off x="960120" y="2880360"/>
            <a:ext cx="101955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E2"/>
            </a:solidFill>
          </a:ln>
        </p:spPr>
      </p:sp>
      <p:sp>
        <p:nvSpPr>
          <p:cNvPr id="52" name="text"/>
          <p:cNvSpPr txBox="1"/>
          <p:nvPr/>
        </p:nvSpPr>
        <p:spPr>
          <a:xfrm>
            <a:off x="1188720" y="312724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面积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1188720" y="345643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8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85.28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3337560" y="312724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单价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3337560" y="34564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8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600 元/M2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5623560" y="312724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0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总价</a:t>
            </a:r>
          </a:p>
        </p:txBody>
      </p:sp>
      <p:sp>
        <p:nvSpPr>
          <p:cNvPr id="57" name="text"/>
          <p:cNvSpPr txBox="1"/>
          <p:nvPr/>
        </p:nvSpPr>
        <p:spPr>
          <a:xfrm>
            <a:off x="5623560" y="34564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8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51168 元</a:t>
            </a:r>
          </a:p>
        </p:txBody>
      </p:sp>
      <p:sp>
        <p:nvSpPr>
          <p:cNvPr id="58" name="shape"/>
          <p:cNvSpPr/>
          <p:nvPr/>
        </p:nvSpPr>
        <p:spPr>
          <a:xfrm>
            <a:off x="8275320" y="3328416"/>
            <a:ext cx="1234440" cy="329184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9" name="text"/>
          <p:cNvSpPr txBox="1"/>
          <p:nvPr/>
        </p:nvSpPr>
        <p:spPr>
          <a:xfrm>
            <a:off x="8348472" y="3396996"/>
            <a:ext cx="108813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加入预算</a:t>
            </a:r>
          </a:p>
        </p:txBody>
      </p:sp>
      <p:sp>
        <p:nvSpPr>
          <p:cNvPr id="60" name="shape"/>
          <p:cNvSpPr/>
          <p:nvPr/>
        </p:nvSpPr>
        <p:spPr>
          <a:xfrm>
            <a:off x="9646920" y="3328416"/>
            <a:ext cx="960120" cy="329184"/>
          </a:xfrm>
          <a:prstGeom prst="roundRect">
            <a:avLst/>
          </a:prstGeom>
          <a:solidFill>
            <a:srgbClr val="EAF2F2"/>
          </a:solidFill>
          <a:ln>
            <a:noFill/>
          </a:ln>
        </p:spPr>
      </p:sp>
      <p:sp>
        <p:nvSpPr>
          <p:cNvPr id="61" name="text"/>
          <p:cNvSpPr txBox="1"/>
          <p:nvPr/>
        </p:nvSpPr>
        <p:spPr>
          <a:xfrm>
            <a:off x="9720072" y="3396996"/>
            <a:ext cx="81381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0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不计入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868680" y="4864608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5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其他可选项会继续扩展；当前入户门、推拉门、窗台石仍按方案自动识别。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13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平台操作 4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平台使用：水电点位默认收起，必要时展开修改</a:t>
            </a:r>
          </a:p>
        </p:txBody>
      </p:sp>
      <p:sp>
        <p:nvSpPr>
          <p:cNvPr id="47" name="shape"/>
          <p:cNvSpPr/>
          <p:nvPr/>
        </p:nvSpPr>
        <p:spPr>
          <a:xfrm>
            <a:off x="749808" y="1417320"/>
            <a:ext cx="1600200" cy="749808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48" name="text"/>
          <p:cNvSpPr txBox="1"/>
          <p:nvPr/>
        </p:nvSpPr>
        <p:spPr>
          <a:xfrm>
            <a:off x="905256" y="1572768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8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强电插座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905256" y="181051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4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106 位</a:t>
            </a:r>
          </a:p>
        </p:txBody>
      </p:sp>
      <p:sp>
        <p:nvSpPr>
          <p:cNvPr id="50" name="shape"/>
          <p:cNvSpPr/>
          <p:nvPr/>
        </p:nvSpPr>
        <p:spPr>
          <a:xfrm>
            <a:off x="2807208" y="1417320"/>
            <a:ext cx="1600200" cy="749808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51" name="text"/>
          <p:cNvSpPr txBox="1"/>
          <p:nvPr/>
        </p:nvSpPr>
        <p:spPr>
          <a:xfrm>
            <a:off x="2962656" y="1572768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8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开关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2962656" y="181051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4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47 位</a:t>
            </a:r>
          </a:p>
        </p:txBody>
      </p:sp>
      <p:sp>
        <p:nvSpPr>
          <p:cNvPr id="53" name="shape"/>
          <p:cNvSpPr/>
          <p:nvPr/>
        </p:nvSpPr>
        <p:spPr>
          <a:xfrm>
            <a:off x="4864608" y="1417320"/>
            <a:ext cx="1600200" cy="749808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54" name="text"/>
          <p:cNvSpPr txBox="1"/>
          <p:nvPr/>
        </p:nvSpPr>
        <p:spPr>
          <a:xfrm>
            <a:off x="5020056" y="1572768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8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灯位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5020056" y="181051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4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52 位</a:t>
            </a:r>
          </a:p>
        </p:txBody>
      </p:sp>
      <p:sp>
        <p:nvSpPr>
          <p:cNvPr id="56" name="shape"/>
          <p:cNvSpPr/>
          <p:nvPr/>
        </p:nvSpPr>
        <p:spPr>
          <a:xfrm>
            <a:off x="749808" y="2377440"/>
            <a:ext cx="1600200" cy="749808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57" name="text"/>
          <p:cNvSpPr txBox="1"/>
          <p:nvPr/>
        </p:nvSpPr>
        <p:spPr>
          <a:xfrm>
            <a:off x="905256" y="2532888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8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给水点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905256" y="277063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4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21 位</a:t>
            </a:r>
          </a:p>
        </p:txBody>
      </p:sp>
      <p:sp>
        <p:nvSpPr>
          <p:cNvPr id="59" name="shape"/>
          <p:cNvSpPr/>
          <p:nvPr/>
        </p:nvSpPr>
        <p:spPr>
          <a:xfrm>
            <a:off x="2807208" y="2377440"/>
            <a:ext cx="1600200" cy="749808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60" name="text"/>
          <p:cNvSpPr txBox="1"/>
          <p:nvPr/>
        </p:nvSpPr>
        <p:spPr>
          <a:xfrm>
            <a:off x="2962656" y="2532888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8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排水点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2962656" y="277063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4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21 位</a:t>
            </a:r>
          </a:p>
        </p:txBody>
      </p:sp>
      <p:sp>
        <p:nvSpPr>
          <p:cNvPr id="62" name="shape"/>
          <p:cNvSpPr/>
          <p:nvPr/>
        </p:nvSpPr>
        <p:spPr>
          <a:xfrm>
            <a:off x="4864608" y="2377440"/>
            <a:ext cx="1600200" cy="749808"/>
          </a:xfrm>
          <a:prstGeom prst="roundRect">
            <a:avLst/>
          </a:prstGeom>
          <a:solidFill>
            <a:srgbClr val="FFFFFF"/>
          </a:solidFill>
          <a:ln w="6500">
            <a:solidFill>
              <a:srgbClr val="CFE0E2"/>
            </a:solidFill>
          </a:ln>
        </p:spPr>
      </p:sp>
      <p:sp>
        <p:nvSpPr>
          <p:cNvPr id="63" name="text"/>
          <p:cNvSpPr txBox="1"/>
          <p:nvPr/>
        </p:nvSpPr>
        <p:spPr>
          <a:xfrm>
            <a:off x="5020056" y="2532888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8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强电线管</a:t>
            </a:r>
          </a:p>
        </p:txBody>
      </p:sp>
      <p:sp>
        <p:nvSpPr>
          <p:cNvPr id="64" name="text"/>
          <p:cNvSpPr txBox="1"/>
          <p:nvPr/>
        </p:nvSpPr>
        <p:spPr>
          <a:xfrm>
            <a:off x="5020056" y="277063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24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633.69 M</a:t>
            </a:r>
          </a:p>
        </p:txBody>
      </p:sp>
      <p:sp>
        <p:nvSpPr>
          <p:cNvPr id="65" name="shape"/>
          <p:cNvSpPr/>
          <p:nvPr/>
        </p:nvSpPr>
        <p:spPr>
          <a:xfrm>
            <a:off x="7178040" y="1417320"/>
            <a:ext cx="3931920" cy="1920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66" name="shape"/>
          <p:cNvSpPr/>
          <p:nvPr/>
        </p:nvSpPr>
        <p:spPr>
          <a:xfrm>
            <a:off x="7178040" y="1417320"/>
            <a:ext cx="82296" cy="1920240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7" name="text"/>
          <p:cNvSpPr txBox="1"/>
          <p:nvPr/>
        </p:nvSpPr>
        <p:spPr>
          <a:xfrm>
            <a:off x="7434072" y="1627632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设计师要做什么</a:t>
            </a:r>
          </a:p>
        </p:txBody>
      </p:sp>
      <p:sp>
        <p:nvSpPr>
          <p:cNvPr id="68" name="text"/>
          <p:cNvSpPr txBox="1"/>
          <p:nvPr/>
        </p:nvSpPr>
        <p:spPr>
          <a:xfrm>
            <a:off x="7434072" y="2057400"/>
            <a:ext cx="34290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默认看汇总即可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数量明显不对时展开空间明细</a:t>
            </a:r>
          </a:p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修改后点“确定水电点位”</a:t>
            </a:r>
          </a:p>
        </p:txBody>
      </p:sp>
      <p:sp>
        <p:nvSpPr>
          <p:cNvPr id="69" name="shape"/>
          <p:cNvSpPr/>
          <p:nvPr/>
        </p:nvSpPr>
        <p:spPr>
          <a:xfrm>
            <a:off x="914400" y="4160520"/>
            <a:ext cx="10241280" cy="914400"/>
          </a:xfrm>
          <a:prstGeom prst="roundRect">
            <a:avLst/>
          </a:prstGeom>
          <a:solidFill>
            <a:srgbClr val="FFF6E0"/>
          </a:solidFill>
          <a:ln w="7620">
            <a:solidFill>
              <a:srgbClr val="CFE0E2"/>
            </a:solidFill>
          </a:ln>
        </p:spPr>
      </p:sp>
      <p:sp>
        <p:nvSpPr>
          <p:cNvPr id="70" name="shape"/>
          <p:cNvSpPr/>
          <p:nvPr/>
        </p:nvSpPr>
        <p:spPr>
          <a:xfrm>
            <a:off x="914400" y="4160520"/>
            <a:ext cx="82296" cy="914400"/>
          </a:xfrm>
          <a:prstGeom prst="rect">
            <a:avLst/>
          </a:prstGeom>
          <a:solidFill>
            <a:srgbClr val="D6A34D"/>
          </a:solidFill>
          <a:ln>
            <a:noFill/>
          </a:ln>
        </p:spPr>
      </p:sp>
      <p:sp>
        <p:nvSpPr>
          <p:cNvPr id="71" name="text"/>
          <p:cNvSpPr txBox="1"/>
          <p:nvPr/>
        </p:nvSpPr>
        <p:spPr>
          <a:xfrm>
            <a:off x="1170432" y="4370832"/>
            <a:ext cx="97383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重要</a:t>
            </a:r>
          </a:p>
        </p:txBody>
      </p:sp>
      <p:sp>
        <p:nvSpPr>
          <p:cNvPr id="72" name="text"/>
          <p:cNvSpPr txBox="1"/>
          <p:nvPr/>
        </p:nvSpPr>
        <p:spPr>
          <a:xfrm>
            <a:off x="1170432" y="4800600"/>
            <a:ext cx="9738360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水电数量会进入预算导出；如果修改了数量，一定要点确认，避免导出的预算还是旧数据。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14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平台操作 5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平台使用：空间工程量摘要只看关键项</a:t>
            </a:r>
          </a:p>
        </p:txBody>
      </p:sp>
      <p:sp>
        <p:nvSpPr>
          <p:cNvPr id="47" name="shape"/>
          <p:cNvSpPr/>
          <p:nvPr/>
        </p:nvSpPr>
        <p:spPr>
          <a:xfrm>
            <a:off x="749808" y="1417320"/>
            <a:ext cx="1065276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E2"/>
            </a:solidFill>
          </a:ln>
        </p:spPr>
      </p:sp>
      <p:sp>
        <p:nvSpPr>
          <p:cNvPr id="48" name="text"/>
          <p:cNvSpPr txBox="1"/>
          <p:nvPr/>
        </p:nvSpPr>
        <p:spPr>
          <a:xfrm>
            <a:off x="1024128" y="160020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19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负二层-车库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3246120" y="160020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地面 31.36 m2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5166360" y="160020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墙砖 74.78 m2</a:t>
            </a:r>
          </a:p>
        </p:txBody>
      </p:sp>
      <p:sp>
        <p:nvSpPr>
          <p:cNvPr id="51" name="shape"/>
          <p:cNvSpPr/>
          <p:nvPr/>
        </p:nvSpPr>
        <p:spPr>
          <a:xfrm>
            <a:off x="8823960" y="1618488"/>
            <a:ext cx="1645920" cy="292608"/>
          </a:xfrm>
          <a:prstGeom prst="roundRect">
            <a:avLst/>
          </a:prstGeom>
          <a:solidFill>
            <a:srgbClr val="FFF0EC"/>
          </a:solidFill>
          <a:ln>
            <a:noFill/>
          </a:ln>
        </p:spPr>
      </p:sp>
      <p:sp>
        <p:nvSpPr>
          <p:cNvPr id="52" name="text"/>
          <p:cNvSpPr txBox="1"/>
          <p:nvPr/>
        </p:nvSpPr>
        <p:spPr>
          <a:xfrm>
            <a:off x="9006840" y="1691640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850" b="1">
                <a:solidFill>
                  <a:srgbClr val="D45A4D"/>
                </a:solidFill>
                <a:latin typeface="Microsoft YaHei"/>
                <a:ea typeface="Microsoft YaHei"/>
                <a:cs typeface="DengXian"/>
              </a:rPr>
              <a:t>需确认大洞口</a:t>
            </a:r>
          </a:p>
        </p:txBody>
      </p:sp>
      <p:sp>
        <p:nvSpPr>
          <p:cNvPr id="53" name="shape"/>
          <p:cNvSpPr/>
          <p:nvPr/>
        </p:nvSpPr>
        <p:spPr>
          <a:xfrm>
            <a:off x="749808" y="2651760"/>
            <a:ext cx="1065276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E2"/>
            </a:solidFill>
          </a:ln>
        </p:spPr>
      </p:sp>
      <p:sp>
        <p:nvSpPr>
          <p:cNvPr id="54" name="text"/>
          <p:cNvSpPr txBox="1"/>
          <p:nvPr/>
        </p:nvSpPr>
        <p:spPr>
          <a:xfrm>
            <a:off x="1024128" y="283464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19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负二层-酒窖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3246120" y="283464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地面 5.44 m2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5166360" y="283464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墙砖 26.43 m2</a:t>
            </a:r>
          </a:p>
        </p:txBody>
      </p:sp>
      <p:sp>
        <p:nvSpPr>
          <p:cNvPr id="57" name="shape"/>
          <p:cNvSpPr/>
          <p:nvPr/>
        </p:nvSpPr>
        <p:spPr>
          <a:xfrm>
            <a:off x="8823960" y="2852928"/>
            <a:ext cx="1645920" cy="292608"/>
          </a:xfrm>
          <a:prstGeom prst="roundRect">
            <a:avLst/>
          </a:prstGeom>
          <a:solidFill>
            <a:srgbClr val="E8F6F3"/>
          </a:solidFill>
          <a:ln>
            <a:noFill/>
          </a:ln>
        </p:spPr>
      </p:sp>
      <p:sp>
        <p:nvSpPr>
          <p:cNvPr id="58" name="text"/>
          <p:cNvSpPr txBox="1"/>
          <p:nvPr/>
        </p:nvSpPr>
        <p:spPr>
          <a:xfrm>
            <a:off x="9006840" y="2926080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85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正常</a:t>
            </a:r>
          </a:p>
        </p:txBody>
      </p:sp>
      <p:sp>
        <p:nvSpPr>
          <p:cNvPr id="59" name="shape"/>
          <p:cNvSpPr/>
          <p:nvPr/>
        </p:nvSpPr>
        <p:spPr>
          <a:xfrm>
            <a:off x="749808" y="3886200"/>
            <a:ext cx="1065276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E2"/>
            </a:solidFill>
          </a:ln>
        </p:spPr>
      </p:sp>
      <p:sp>
        <p:nvSpPr>
          <p:cNvPr id="60" name="text"/>
          <p:cNvSpPr txBox="1"/>
          <p:nvPr/>
        </p:nvSpPr>
        <p:spPr>
          <a:xfrm>
            <a:off x="1024128" y="406908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19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三层-主卧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3246120" y="406908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地面 15.17 m2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5166360" y="406908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2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墙砖 0.00 m2</a:t>
            </a:r>
          </a:p>
        </p:txBody>
      </p:sp>
      <p:sp>
        <p:nvSpPr>
          <p:cNvPr id="63" name="shape"/>
          <p:cNvSpPr/>
          <p:nvPr/>
        </p:nvSpPr>
        <p:spPr>
          <a:xfrm>
            <a:off x="8823960" y="4087368"/>
            <a:ext cx="1645920" cy="292608"/>
          </a:xfrm>
          <a:prstGeom prst="roundRect">
            <a:avLst/>
          </a:prstGeom>
          <a:solidFill>
            <a:srgbClr val="E8F6F3"/>
          </a:solidFill>
          <a:ln>
            <a:noFill/>
          </a:ln>
        </p:spPr>
      </p:sp>
      <p:sp>
        <p:nvSpPr>
          <p:cNvPr id="64" name="text"/>
          <p:cNvSpPr txBox="1"/>
          <p:nvPr/>
        </p:nvSpPr>
        <p:spPr>
          <a:xfrm>
            <a:off x="9006840" y="4160520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85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正常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868680" y="530352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22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空间默认折叠；只有异常空间会展开让设计师确认或修图。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15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平台操作 6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平台使用：预算先预览，再下载</a:t>
            </a:r>
          </a:p>
        </p:txBody>
      </p:sp>
      <p:sp>
        <p:nvSpPr>
          <p:cNvPr id="47" name="shape"/>
          <p:cNvSpPr/>
          <p:nvPr/>
        </p:nvSpPr>
        <p:spPr>
          <a:xfrm>
            <a:off x="713232" y="1389888"/>
            <a:ext cx="10771632" cy="3063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E2"/>
            </a:solidFill>
          </a:ln>
        </p:spPr>
      </p:sp>
      <p:sp>
        <p:nvSpPr>
          <p:cNvPr id="48" name="text"/>
          <p:cNvSpPr txBox="1"/>
          <p:nvPr/>
        </p:nvSpPr>
        <p:spPr>
          <a:xfrm>
            <a:off x="1051560" y="166420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5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预算预览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960120" y="217627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85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编号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2377440" y="217627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85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项目名称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3794760" y="217627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85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单位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5212080" y="217627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85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数量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6629400" y="217627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85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单价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8046720" y="217627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85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总价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9464040" y="217627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850" b="1">
                <a:solidFill>
                  <a:srgbClr val="08786C"/>
                </a:solidFill>
                <a:latin typeface="Microsoft YaHei"/>
                <a:ea typeface="Microsoft YaHei"/>
                <a:cs typeface="DengXian"/>
              </a:rPr>
              <a:t>说明</a:t>
            </a:r>
          </a:p>
        </p:txBody>
      </p:sp>
      <p:sp>
        <p:nvSpPr>
          <p:cNvPr id="56" name="shape"/>
          <p:cNvSpPr/>
          <p:nvPr/>
        </p:nvSpPr>
        <p:spPr>
          <a:xfrm>
            <a:off x="914400" y="2514600"/>
            <a:ext cx="9966960" cy="5486"/>
          </a:xfrm>
          <a:prstGeom prst="rect">
            <a:avLst/>
          </a:prstGeom>
          <a:solidFill>
            <a:srgbClr val="CFE0E2"/>
          </a:solidFill>
          <a:ln>
            <a:noFill/>
          </a:ln>
        </p:spPr>
      </p:sp>
      <p:sp>
        <p:nvSpPr>
          <p:cNvPr id="57" name="text"/>
          <p:cNvSpPr txBox="1"/>
          <p:nvPr/>
        </p:nvSpPr>
        <p:spPr>
          <a:xfrm>
            <a:off x="960120" y="2624328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76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1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2011680" y="2624328"/>
            <a:ext cx="146304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78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拆改及拆墙</a:t>
            </a:r>
          </a:p>
        </p:txBody>
      </p:sp>
      <p:sp>
        <p:nvSpPr>
          <p:cNvPr id="59" name="shape"/>
          <p:cNvSpPr/>
          <p:nvPr/>
        </p:nvSpPr>
        <p:spPr>
          <a:xfrm>
            <a:off x="914400" y="2926080"/>
            <a:ext cx="9966960" cy="5486"/>
          </a:xfrm>
          <a:prstGeom prst="rect">
            <a:avLst/>
          </a:prstGeom>
          <a:solidFill>
            <a:srgbClr val="CFE0E2"/>
          </a:solidFill>
          <a:ln>
            <a:noFill/>
          </a:ln>
        </p:spPr>
      </p:sp>
      <p:sp>
        <p:nvSpPr>
          <p:cNvPr id="60" name="text"/>
          <p:cNvSpPr txBox="1"/>
          <p:nvPr/>
        </p:nvSpPr>
        <p:spPr>
          <a:xfrm>
            <a:off x="960120" y="3035808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76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2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2011680" y="3035808"/>
            <a:ext cx="146304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78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墙面乳胶漆</a:t>
            </a:r>
          </a:p>
        </p:txBody>
      </p:sp>
      <p:sp>
        <p:nvSpPr>
          <p:cNvPr id="62" name="shape"/>
          <p:cNvSpPr/>
          <p:nvPr/>
        </p:nvSpPr>
        <p:spPr>
          <a:xfrm>
            <a:off x="914400" y="3337560"/>
            <a:ext cx="9966960" cy="5486"/>
          </a:xfrm>
          <a:prstGeom prst="rect">
            <a:avLst/>
          </a:prstGeom>
          <a:solidFill>
            <a:srgbClr val="CFE0E2"/>
          </a:solidFill>
          <a:ln>
            <a:noFill/>
          </a:ln>
        </p:spPr>
      </p:sp>
      <p:sp>
        <p:nvSpPr>
          <p:cNvPr id="63" name="text"/>
          <p:cNvSpPr txBox="1"/>
          <p:nvPr/>
        </p:nvSpPr>
        <p:spPr>
          <a:xfrm>
            <a:off x="960120" y="3447288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76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3</a:t>
            </a:r>
          </a:p>
        </p:txBody>
      </p:sp>
      <p:sp>
        <p:nvSpPr>
          <p:cNvPr id="64" name="text"/>
          <p:cNvSpPr txBox="1"/>
          <p:nvPr/>
        </p:nvSpPr>
        <p:spPr>
          <a:xfrm>
            <a:off x="2011680" y="3447288"/>
            <a:ext cx="146304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78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地面砖铺贴</a:t>
            </a:r>
          </a:p>
        </p:txBody>
      </p:sp>
      <p:sp>
        <p:nvSpPr>
          <p:cNvPr id="65" name="shape"/>
          <p:cNvSpPr/>
          <p:nvPr/>
        </p:nvSpPr>
        <p:spPr>
          <a:xfrm>
            <a:off x="7086600" y="3886200"/>
            <a:ext cx="1234440" cy="329184"/>
          </a:xfrm>
          <a:prstGeom prst="roundRect">
            <a:avLst/>
          </a:prstGeom>
          <a:solidFill>
            <a:srgbClr val="EAF2F2"/>
          </a:solidFill>
          <a:ln>
            <a:noFill/>
          </a:ln>
        </p:spPr>
      </p:sp>
      <p:sp>
        <p:nvSpPr>
          <p:cNvPr id="66" name="text"/>
          <p:cNvSpPr txBox="1"/>
          <p:nvPr/>
        </p:nvSpPr>
        <p:spPr>
          <a:xfrm>
            <a:off x="7159752" y="3954780"/>
            <a:ext cx="108813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0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返回修改</a:t>
            </a:r>
          </a:p>
        </p:txBody>
      </p:sp>
      <p:sp>
        <p:nvSpPr>
          <p:cNvPr id="67" name="shape"/>
          <p:cNvSpPr/>
          <p:nvPr/>
        </p:nvSpPr>
        <p:spPr>
          <a:xfrm>
            <a:off x="8522208" y="3886200"/>
            <a:ext cx="1417320" cy="329184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8" name="text"/>
          <p:cNvSpPr txBox="1"/>
          <p:nvPr/>
        </p:nvSpPr>
        <p:spPr>
          <a:xfrm>
            <a:off x="8595360" y="3954780"/>
            <a:ext cx="127101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下载预算表</a:t>
            </a:r>
          </a:p>
        </p:txBody>
      </p:sp>
      <p:sp>
        <p:nvSpPr>
          <p:cNvPr id="69" name="shape"/>
          <p:cNvSpPr/>
          <p:nvPr/>
        </p:nvSpPr>
        <p:spPr>
          <a:xfrm>
            <a:off x="914400" y="4873752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0" name="text"/>
          <p:cNvSpPr txBox="1"/>
          <p:nvPr/>
        </p:nvSpPr>
        <p:spPr>
          <a:xfrm>
            <a:off x="1133856" y="480060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12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发现数量或单价不对，先返回修改</a:t>
            </a:r>
          </a:p>
        </p:txBody>
      </p:sp>
      <p:sp>
        <p:nvSpPr>
          <p:cNvPr id="71" name="shape"/>
          <p:cNvSpPr/>
          <p:nvPr/>
        </p:nvSpPr>
        <p:spPr>
          <a:xfrm>
            <a:off x="914400" y="5266944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2" name="text"/>
          <p:cNvSpPr txBox="1"/>
          <p:nvPr/>
        </p:nvSpPr>
        <p:spPr>
          <a:xfrm>
            <a:off x="1133856" y="519379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12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确认无误后再下载预算表</a:t>
            </a:r>
          </a:p>
        </p:txBody>
      </p:sp>
      <p:sp>
        <p:nvSpPr>
          <p:cNvPr id="73" name="shape"/>
          <p:cNvSpPr/>
          <p:nvPr/>
        </p:nvSpPr>
        <p:spPr>
          <a:xfrm>
            <a:off x="914400" y="5660136"/>
            <a:ext cx="109728" cy="109728"/>
          </a:xfrm>
          <a:prstGeom prst="ellipse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74" name="text"/>
          <p:cNvSpPr txBox="1"/>
          <p:nvPr/>
        </p:nvSpPr>
        <p:spPr>
          <a:xfrm>
            <a:off x="1133856" y="5586984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120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下载后的 Excel 仍可人工微调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8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DCEBED">
              <a:alpha val="55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16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排错指南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常见问题：先按提示定位，再回 CAD 修图</a:t>
            </a:r>
          </a:p>
        </p:txBody>
      </p:sp>
      <p:sp>
        <p:nvSpPr>
          <p:cNvPr id="47" name="shape"/>
          <p:cNvSpPr/>
          <p:nvPr/>
        </p:nvSpPr>
        <p:spPr>
          <a:xfrm>
            <a:off x="713232" y="1335024"/>
            <a:ext cx="10744200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48" name="shape"/>
          <p:cNvSpPr/>
          <p:nvPr/>
        </p:nvSpPr>
        <p:spPr>
          <a:xfrm>
            <a:off x="713232" y="1335024"/>
            <a:ext cx="82296" cy="566928"/>
          </a:xfrm>
          <a:prstGeom prst="rect">
            <a:avLst/>
          </a:prstGeom>
          <a:solidFill>
            <a:srgbClr val="D45A4D"/>
          </a:solidFill>
          <a:ln>
            <a:noFill/>
          </a:ln>
        </p:spPr>
      </p:sp>
      <p:sp>
        <p:nvSpPr>
          <p:cNvPr id="49" name="text"/>
          <p:cNvSpPr txBox="1"/>
          <p:nvPr/>
        </p:nvSpPr>
        <p:spPr>
          <a:xfrm>
            <a:off x="969264" y="1545336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建筑面积为 0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969264" y="1975104"/>
            <a:ext cx="10241280" cy="-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检查 QUOTE_EXT_WALL 是否闭合，外墙轮廓是否画在正确图层。</a:t>
            </a:r>
          </a:p>
        </p:txBody>
      </p:sp>
      <p:sp>
        <p:nvSpPr>
          <p:cNvPr id="51" name="shape"/>
          <p:cNvSpPr/>
          <p:nvPr/>
        </p:nvSpPr>
        <p:spPr>
          <a:xfrm>
            <a:off x="713232" y="2084832"/>
            <a:ext cx="10744200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52" name="shape"/>
          <p:cNvSpPr/>
          <p:nvPr/>
        </p:nvSpPr>
        <p:spPr>
          <a:xfrm>
            <a:off x="713232" y="2084832"/>
            <a:ext cx="82296" cy="566928"/>
          </a:xfrm>
          <a:prstGeom prst="rect">
            <a:avLst/>
          </a:prstGeom>
          <a:solidFill>
            <a:srgbClr val="D45A4D"/>
          </a:solidFill>
          <a:ln>
            <a:noFill/>
          </a:ln>
        </p:spPr>
      </p:sp>
      <p:sp>
        <p:nvSpPr>
          <p:cNvPr id="53" name="text"/>
          <p:cNvSpPr txBox="1"/>
          <p:nvPr/>
        </p:nvSpPr>
        <p:spPr>
          <a:xfrm>
            <a:off x="969264" y="2295144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空间命名需拆分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969264" y="2724912"/>
            <a:ext cx="10241280" cy="-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把“过道/电梯井”拆成两个空间，不要用一个外框圈多个性质。</a:t>
            </a:r>
          </a:p>
        </p:txBody>
      </p:sp>
      <p:sp>
        <p:nvSpPr>
          <p:cNvPr id="55" name="shape"/>
          <p:cNvSpPr/>
          <p:nvPr/>
        </p:nvSpPr>
        <p:spPr>
          <a:xfrm>
            <a:off x="713232" y="2834640"/>
            <a:ext cx="10744200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56" name="shape"/>
          <p:cNvSpPr/>
          <p:nvPr/>
        </p:nvSpPr>
        <p:spPr>
          <a:xfrm>
            <a:off x="713232" y="2834640"/>
            <a:ext cx="82296" cy="566928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7" name="text"/>
          <p:cNvSpPr txBox="1"/>
          <p:nvPr/>
        </p:nvSpPr>
        <p:spPr>
          <a:xfrm>
            <a:off x="969264" y="3044952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卫生间金额不对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969264" y="3474720"/>
            <a:ext cx="10241280" cy="-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检查卫生间是否被识别成其他类型，洁具/淋浴选择是否确认。</a:t>
            </a:r>
          </a:p>
        </p:txBody>
      </p:sp>
      <p:sp>
        <p:nvSpPr>
          <p:cNvPr id="59" name="shape"/>
          <p:cNvSpPr/>
          <p:nvPr/>
        </p:nvSpPr>
        <p:spPr>
          <a:xfrm>
            <a:off x="713232" y="3584448"/>
            <a:ext cx="10744200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60" name="shape"/>
          <p:cNvSpPr/>
          <p:nvPr/>
        </p:nvSpPr>
        <p:spPr>
          <a:xfrm>
            <a:off x="713232" y="3584448"/>
            <a:ext cx="82296" cy="566928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1" name="text"/>
          <p:cNvSpPr txBox="1"/>
          <p:nvPr/>
        </p:nvSpPr>
        <p:spPr>
          <a:xfrm>
            <a:off x="969264" y="3794760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墙面面积不对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969264" y="4224528"/>
            <a:ext cx="10241280" cy="-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检查 QUOTE_WALL 是否漏画、门洞位置是否误画墙线。</a:t>
            </a:r>
          </a:p>
        </p:txBody>
      </p:sp>
      <p:sp>
        <p:nvSpPr>
          <p:cNvPr id="63" name="shape"/>
          <p:cNvSpPr/>
          <p:nvPr/>
        </p:nvSpPr>
        <p:spPr>
          <a:xfrm>
            <a:off x="713232" y="4334256"/>
            <a:ext cx="10744200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E0E2"/>
            </a:solidFill>
          </a:ln>
        </p:spPr>
      </p:sp>
      <p:sp>
        <p:nvSpPr>
          <p:cNvPr id="64" name="shape"/>
          <p:cNvSpPr/>
          <p:nvPr/>
        </p:nvSpPr>
        <p:spPr>
          <a:xfrm>
            <a:off x="713232" y="4334256"/>
            <a:ext cx="82296" cy="566928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65" name="text"/>
          <p:cNvSpPr txBox="1"/>
          <p:nvPr/>
        </p:nvSpPr>
        <p:spPr>
          <a:xfrm>
            <a:off x="969264" y="4544568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DWG 上传失败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969264" y="4974336"/>
            <a:ext cx="10241280" cy="-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让管理员检查 ODA 转换器，或从 CAD 另存为 DXF 再上传。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35"/>
          </a:solidFill>
          <a:ln>
            <a:noFill/>
          </a:ln>
        </p:spPr>
      </p:sp>
      <p:sp>
        <p:nvSpPr>
          <p:cNvPr id="3" name="grid line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4" name="grid line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5" name="grid line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6" name="grid line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7" name="grid line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8" name="grid line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9" name="grid line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0" name="grid line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1" name="grid line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2" name="grid line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3" name="grid line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4" name="grid line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5" name="grid line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6" name="grid line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7" name="grid line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8" name="grid line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19" name="grid line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0" name="grid line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1" name="grid line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2" name="grid line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3" name="grid line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4" name="grid line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5" name="grid line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6" name="grid line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7" name="grid line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8" name="grid line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29" name="grid line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0" name="grid line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1" name="grid line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2" name="grid line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3" name="grid line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4" name="grid line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5" name="grid line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6" name="grid line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7" name="grid line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8" name="grid line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39" name="grid line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40" name="grid line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41" name="grid line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42" name="grid line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F5965">
              <a:alpha val="28000"/>
            </a:srgbClr>
          </a:solidFill>
          <a:ln>
            <a:noFill/>
          </a:ln>
        </p:spPr>
      </p:sp>
      <p:sp>
        <p:nvSpPr>
          <p:cNvPr id="43" name="slide number"/>
          <p:cNvSpPr/>
          <p:nvPr/>
        </p:nvSpPr>
        <p:spPr>
          <a:xfrm>
            <a:off x="411480" y="310896"/>
            <a:ext cx="713232" cy="310896"/>
          </a:xfrm>
          <a:prstGeom prst="round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0352" y="37033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17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225296" y="31089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050" b="1">
                <a:solidFill>
                  <a:srgbClr val="607780"/>
                </a:solidFill>
                <a:latin typeface="Microsoft YaHei"/>
                <a:ea typeface="Microsoft YaHei"/>
                <a:cs typeface="DengXian"/>
              </a:rPr>
              <a:t>上线试用要求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411480" y="69494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2650" b="1">
                <a:solidFill>
                  <a:srgbClr val="10242B"/>
                </a:solidFill>
                <a:latin typeface="Microsoft YaHei"/>
                <a:ea typeface="Microsoft YaHei"/>
                <a:cs typeface="DengXian"/>
              </a:rPr>
              <a:t>设计师交付标准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68680" y="141732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每一张能稳定出预算的图纸，都满足这四件事</a:t>
            </a:r>
          </a:p>
        </p:txBody>
      </p:sp>
      <p:sp>
        <p:nvSpPr>
          <p:cNvPr id="48" name="shape"/>
          <p:cNvSpPr/>
          <p:nvPr/>
        </p:nvSpPr>
        <p:spPr>
          <a:xfrm>
            <a:off x="822960" y="2148840"/>
            <a:ext cx="2560320" cy="2057400"/>
          </a:xfrm>
          <a:prstGeom prst="roundRect">
            <a:avLst/>
          </a:prstGeom>
          <a:solidFill>
            <a:srgbClr val="123C49"/>
          </a:solidFill>
          <a:ln w="7620">
            <a:solidFill>
              <a:srgbClr val="CFE0E2"/>
            </a:solidFill>
          </a:ln>
        </p:spPr>
      </p:sp>
      <p:sp>
        <p:nvSpPr>
          <p:cNvPr id="49" name="shape"/>
          <p:cNvSpPr/>
          <p:nvPr/>
        </p:nvSpPr>
        <p:spPr>
          <a:xfrm>
            <a:off x="822960" y="2148840"/>
            <a:ext cx="82296" cy="2057400"/>
          </a:xfrm>
          <a:prstGeom prst="rect">
            <a:avLst/>
          </a:prstGeom>
          <a:solidFill>
            <a:srgbClr val="5ED0C5"/>
          </a:solidFill>
          <a:ln>
            <a:noFill/>
          </a:ln>
        </p:spPr>
      </p:sp>
      <p:sp>
        <p:nvSpPr>
          <p:cNvPr id="50" name="text"/>
          <p:cNvSpPr txBox="1"/>
          <p:nvPr/>
        </p:nvSpPr>
        <p:spPr>
          <a:xfrm>
            <a:off x="1078992" y="2359152"/>
            <a:ext cx="2057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图层规范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1078992" y="2788920"/>
            <a:ext cx="20574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C8E7EA"/>
                </a:solidFill>
                <a:latin typeface="Microsoft YaHei"/>
                <a:ea typeface="Microsoft YaHei"/>
                <a:cs typeface="DengXian"/>
              </a:rPr>
              <a:t>核心图层齐全，外墙和空间闭合，特殊项分图层。</a:t>
            </a:r>
          </a:p>
        </p:txBody>
      </p:sp>
      <p:sp>
        <p:nvSpPr>
          <p:cNvPr id="52" name="shape"/>
          <p:cNvSpPr/>
          <p:nvPr/>
        </p:nvSpPr>
        <p:spPr>
          <a:xfrm>
            <a:off x="3611880" y="2148840"/>
            <a:ext cx="2560320" cy="2057400"/>
          </a:xfrm>
          <a:prstGeom prst="roundRect">
            <a:avLst/>
          </a:prstGeom>
          <a:solidFill>
            <a:srgbClr val="123C49"/>
          </a:solidFill>
          <a:ln w="7620">
            <a:solidFill>
              <a:srgbClr val="CFE0E2"/>
            </a:solidFill>
          </a:ln>
        </p:spPr>
      </p:sp>
      <p:sp>
        <p:nvSpPr>
          <p:cNvPr id="53" name="shape"/>
          <p:cNvSpPr/>
          <p:nvPr/>
        </p:nvSpPr>
        <p:spPr>
          <a:xfrm>
            <a:off x="3611880" y="2148840"/>
            <a:ext cx="82296" cy="2057400"/>
          </a:xfrm>
          <a:prstGeom prst="rect">
            <a:avLst/>
          </a:prstGeom>
          <a:solidFill>
            <a:srgbClr val="D6A34D"/>
          </a:solidFill>
          <a:ln>
            <a:noFill/>
          </a:ln>
        </p:spPr>
      </p:sp>
      <p:sp>
        <p:nvSpPr>
          <p:cNvPr id="54" name="text"/>
          <p:cNvSpPr txBox="1"/>
          <p:nvPr/>
        </p:nvSpPr>
        <p:spPr>
          <a:xfrm>
            <a:off x="3867912" y="2359152"/>
            <a:ext cx="2057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命名规范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3867912" y="2788920"/>
            <a:ext cx="20574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C8E7EA"/>
                </a:solidFill>
                <a:latin typeface="Microsoft YaHei"/>
                <a:ea typeface="Microsoft YaHei"/>
                <a:cs typeface="DengXian"/>
              </a:rPr>
              <a:t>楼层清楚，空间用途单一，不混名、不重叠。</a:t>
            </a:r>
          </a:p>
        </p:txBody>
      </p:sp>
      <p:sp>
        <p:nvSpPr>
          <p:cNvPr id="56" name="shape"/>
          <p:cNvSpPr/>
          <p:nvPr/>
        </p:nvSpPr>
        <p:spPr>
          <a:xfrm>
            <a:off x="6400800" y="2148840"/>
            <a:ext cx="2560320" cy="2057400"/>
          </a:xfrm>
          <a:prstGeom prst="roundRect">
            <a:avLst/>
          </a:prstGeom>
          <a:solidFill>
            <a:srgbClr val="123C49"/>
          </a:solidFill>
          <a:ln w="7620">
            <a:solidFill>
              <a:srgbClr val="CFE0E2"/>
            </a:solidFill>
          </a:ln>
        </p:spPr>
      </p:sp>
      <p:sp>
        <p:nvSpPr>
          <p:cNvPr id="57" name="shape"/>
          <p:cNvSpPr/>
          <p:nvPr/>
        </p:nvSpPr>
        <p:spPr>
          <a:xfrm>
            <a:off x="6400800" y="2148840"/>
            <a:ext cx="82296" cy="2057400"/>
          </a:xfrm>
          <a:prstGeom prst="rect">
            <a:avLst/>
          </a:prstGeom>
          <a:solidFill>
            <a:srgbClr val="08786C"/>
          </a:solidFill>
          <a:ln>
            <a:noFill/>
          </a:ln>
        </p:spPr>
      </p:sp>
      <p:sp>
        <p:nvSpPr>
          <p:cNvPr id="58" name="text"/>
          <p:cNvSpPr txBox="1"/>
          <p:nvPr/>
        </p:nvSpPr>
        <p:spPr>
          <a:xfrm>
            <a:off x="6656832" y="2359152"/>
            <a:ext cx="2057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复核完成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6656832" y="2788920"/>
            <a:ext cx="20574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C8E7EA"/>
                </a:solidFill>
                <a:latin typeface="Microsoft YaHei"/>
                <a:ea typeface="Microsoft YaHei"/>
                <a:cs typeface="DengXian"/>
              </a:rPr>
              <a:t>方案信息、水电点位、异常空间都已确认。</a:t>
            </a:r>
          </a:p>
        </p:txBody>
      </p:sp>
      <p:sp>
        <p:nvSpPr>
          <p:cNvPr id="60" name="shape"/>
          <p:cNvSpPr/>
          <p:nvPr/>
        </p:nvSpPr>
        <p:spPr>
          <a:xfrm>
            <a:off x="9189720" y="2148840"/>
            <a:ext cx="2560320" cy="2057400"/>
          </a:xfrm>
          <a:prstGeom prst="roundRect">
            <a:avLst/>
          </a:prstGeom>
          <a:solidFill>
            <a:srgbClr val="123C49"/>
          </a:solidFill>
          <a:ln w="7620">
            <a:solidFill>
              <a:srgbClr val="CFE0E2"/>
            </a:solidFill>
          </a:ln>
        </p:spPr>
      </p:sp>
      <p:sp>
        <p:nvSpPr>
          <p:cNvPr id="61" name="shape"/>
          <p:cNvSpPr/>
          <p:nvPr/>
        </p:nvSpPr>
        <p:spPr>
          <a:xfrm>
            <a:off x="9189720" y="2148840"/>
            <a:ext cx="82296" cy="2057400"/>
          </a:xfrm>
          <a:prstGeom prst="rect">
            <a:avLst/>
          </a:prstGeom>
          <a:solidFill>
            <a:srgbClr val="5ED0C5"/>
          </a:solidFill>
          <a:ln>
            <a:noFill/>
          </a:ln>
        </p:spPr>
      </p:sp>
      <p:sp>
        <p:nvSpPr>
          <p:cNvPr id="62" name="text"/>
          <p:cNvSpPr txBox="1"/>
          <p:nvPr/>
        </p:nvSpPr>
        <p:spPr>
          <a:xfrm>
            <a:off x="9445752" y="2359152"/>
            <a:ext cx="2057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2000"/>
              </a:lnSpc>
            </a:pPr>
            <a:r>
              <a:rPr lang="zh-CN" sz="1450" b="1">
                <a:solidFill>
                  <a:srgbClr val="FFFFFF"/>
                </a:solidFill>
                <a:latin typeface="Microsoft YaHei"/>
                <a:ea typeface="Microsoft YaHei"/>
                <a:cs typeface="DengXian"/>
              </a:rPr>
              <a:t>预算预览</a:t>
            </a:r>
          </a:p>
        </p:txBody>
      </p:sp>
      <p:sp>
        <p:nvSpPr>
          <p:cNvPr id="63" name="text"/>
          <p:cNvSpPr txBox="1"/>
          <p:nvPr/>
        </p:nvSpPr>
        <p:spPr>
          <a:xfrm>
            <a:off x="9445752" y="2788920"/>
            <a:ext cx="20574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</a:pPr>
            <a:r>
              <a:rPr lang="zh-CN" sz="1130">
                <a:solidFill>
                  <a:srgbClr val="C8E7EA"/>
                </a:solidFill>
                <a:latin typeface="Microsoft YaHei"/>
                <a:ea typeface="Microsoft YaHei"/>
                <a:cs typeface="DengXian"/>
              </a:rPr>
              <a:t>先在平台预览预算，再下载交给后续流程。</a:t>
            </a:r>
          </a:p>
        </p:txBody>
      </p:sp>
      <p:sp>
        <p:nvSpPr>
          <p:cNvPr id="64" name="text"/>
          <p:cNvSpPr txBox="1"/>
          <p:nvPr/>
        </p:nvSpPr>
        <p:spPr>
          <a:xfrm>
            <a:off x="868680" y="532180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>
              <a:lnSpc>
                <a:spcPct val="112000"/>
              </a:lnSpc>
            </a:pPr>
            <a:r>
              <a:rPr lang="zh-CN" sz="1420" b="1">
                <a:solidFill>
                  <a:srgbClr val="C8E7EA"/>
                </a:solidFill>
                <a:latin typeface="Microsoft YaHei"/>
                <a:ea typeface="Microsoft YaHei"/>
                <a:cs typeface="DengXian"/>
              </a:rPr>
              <a:t>最终目标：让设计师少返工，让报价员少补数，让客户报价更快更稳。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 Training">
  <a:themeElements>
    <a:clrScheme name="Blueprint">
      <a:dk1>
        <a:srgbClr val="10242B"/>
      </a:dk1>
      <a:lt1>
        <a:srgbClr val="FFFFFF"/>
      </a:lt1>
      <a:dk2>
        <a:srgbClr val="113D49"/>
      </a:dk2>
      <a:lt2>
        <a:srgbClr val="F5FAF8"/>
      </a:lt2>
      <a:accent1>
        <a:srgbClr val="08786C"/>
      </a:accent1>
      <a:accent2>
        <a:srgbClr val="5ED0C5"/>
      </a:accent2>
      <a:accent3>
        <a:srgbClr val="D6A34D"/>
      </a:accent3>
      <a:accent4>
        <a:srgbClr val="D45A4D"/>
      </a:accent4>
      <a:accent5>
        <a:srgbClr val="607780"/>
      </a:accent5>
      <a:accent6>
        <a:srgbClr val="CFE0E2"/>
      </a:accent6>
      <a:hlink>
        <a:srgbClr val="0B6E99"/>
      </a:hlink>
      <a:folHlink>
        <a:srgbClr val="6B5B95"/>
      </a:folHlink>
    </a:clrScheme>
    <a:fontScheme name="Training Fonts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Training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CAD Budget Program</Application>
  <PresentationFormat>宽屏 16:9</PresentationFormat>
  <Slides>17</Slides>
  <Company>整装预算报价系统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整装预算报价系统设计师培训 v1.1</dc:title>
  <dc:creator>CAD Budget Program</dc:creator>
  <cp:lastModifiedBy>CAD Budget Program</cp:lastModifiedBy>
  <dcterms:created xsi:type="dcterms:W3CDTF">2026-07-14T08:08:15Z</dcterms:created>
  <dcterms:modified xsi:type="dcterms:W3CDTF">2026-07-14T08:08:15Z</dcterms:modified>
</cp:coreProperties>
</file>